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media/image1.svg" ContentType="image/svg+xml"/>
  <Override PartName="/ppt/media/image10.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21.svg" ContentType="image/svg+xml"/>
  <Override PartName="/ppt/media/image22.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7.svg" ContentType="image/svg+xml"/>
  <Override PartName="/ppt/media/image28.svg" ContentType="image/svg+xml"/>
  <Override PartName="/ppt/media/image29.svg" ContentType="image/svg+xml"/>
  <Override PartName="/ppt/media/image3.svg" ContentType="image/svg+xml"/>
  <Override PartName="/ppt/media/image30.svg" ContentType="image/svg+xml"/>
  <Override PartName="/ppt/media/image31.svg" ContentType="image/svg+xml"/>
  <Override PartName="/ppt/media/image4.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5952" userDrawn="1">
          <p15:clr>
            <a:srgbClr val="A4A3A4"/>
          </p15:clr>
        </p15:guide>
        <p15:guide id="3" pos="5664" userDrawn="1">
          <p15:clr>
            <a:srgbClr val="A4A3A4"/>
          </p15:clr>
        </p15:guide>
        <p15:guide id="4" pos="556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anelle Nolan" initials="JN" lastIdx="7" clrIdx="0">
    <p:extLst>
      <p:ext uri="{19B8F6BF-5375-455C-9EA6-DF929625EA0E}">
        <p15:presenceInfo xmlns:p15="http://schemas.microsoft.com/office/powerpoint/2012/main" userId="Janelle Nola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EDED"/>
    <a:srgbClr val="D5DBDB"/>
    <a:srgbClr val="545B64"/>
    <a:srgbClr val="FF9900"/>
    <a:srgbClr val="232F3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6782" autoAdjust="0"/>
    <p:restoredTop sz="96374" autoAdjust="0"/>
  </p:normalViewPr>
  <p:slideViewPr>
    <p:cSldViewPr>
      <p:cViewPr varScale="1">
        <p:scale>
          <a:sx n="111" d="100"/>
          <a:sy n="111" d="100"/>
        </p:scale>
        <p:origin x="1062" y="930"/>
      </p:cViewPr>
      <p:guideLst>
        <p:guide orient="horz" pos="2160"/>
        <p:guide pos="5952"/>
        <p:guide pos="5664"/>
        <p:guide pos="556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2" Type="http://schemas.openxmlformats.org/officeDocument/2006/relationships/notesMaster" Target="notesMasters/notesMaster1.xml"/><Relationship Id="rId13" Type="http://schemas.openxmlformats.org/officeDocument/2006/relationships/commentAuthors" Target="commentAuthors.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963D1AE-04B2-F147-8122-2A32BD7879DD}" type="datetimeFigureOut">
              <a:rPr lang="en-US" smtClean="0"/>
              <a:t>7/14/2026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2BC6CBF-D31D-B841-861D-EC168426F20E}" type="slidenum">
              <a:rPr lang="en-US" smtClean="0"/>
              <a:t>‹#›</a:t>
            </a:fld>
            <a:endParaRPr lang="en-US" dirty="0"/>
          </a:p>
        </p:txBody>
      </p:sp>
    </p:spTree>
    <p:extLst>
      <p:ext uri="{BB962C8B-B14F-4D97-AF65-F5344CB8AC3E}">
        <p14:creationId xmlns:p14="http://schemas.microsoft.com/office/powerpoint/2010/main" val="262315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2BC6CBF-D31D-B841-861D-EC168426F20E}" type="slidenum">
              <a:rPr lang="en-US" smtClean="0"/>
              <a:t>1</a:t>
            </a:fld>
            <a:endParaRPr lang="en-US" dirty="0"/>
          </a:p>
        </p:txBody>
      </p:sp>
    </p:spTree>
    <p:extLst>
      <p:ext uri="{BB962C8B-B14F-4D97-AF65-F5344CB8AC3E}">
        <p14:creationId xmlns:p14="http://schemas.microsoft.com/office/powerpoint/2010/main" val="12330402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416854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sv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5126"/>
            <a:ext cx="10820400" cy="1216270"/>
          </a:xfrm>
          <a:prstGeom prst="rect">
            <a:avLst/>
          </a:prstGeom>
        </p:spPr>
        <p:txBody>
          <a:bodyPr vert="horz" lIns="91440" tIns="45720" rIns="91440" bIns="45720" rtlCol="0" anchor="ctr">
            <a:noAutofit/>
          </a:bodyPr>
          <a:lstStyle/>
          <a:p>
            <a:r>
              <a:rPr lang="en-US" dirty="0"/>
              <a:t>Click to edit Master title style</a:t>
            </a:r>
          </a:p>
        </p:txBody>
      </p:sp>
      <p:sp>
        <p:nvSpPr>
          <p:cNvPr id="3" name="Text Placeholder 2"/>
          <p:cNvSpPr>
            <a:spLocks noGrp="1"/>
          </p:cNvSpPr>
          <p:nvPr>
            <p:ph type="body" idx="1"/>
          </p:nvPr>
        </p:nvSpPr>
        <p:spPr>
          <a:xfrm>
            <a:off x="457200" y="1825625"/>
            <a:ext cx="10820400" cy="4117975"/>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AWS copyright text">
            <a:extLst>
              <a:ext uri="{FF2B5EF4-FFF2-40B4-BE49-F238E27FC236}">
                <a16:creationId xmlns:a16="http://schemas.microsoft.com/office/drawing/2014/main" id="{F49B8274-557F-7642-B09D-244509A45EDC}"/>
              </a:ext>
            </a:extLst>
          </p:cNvPr>
          <p:cNvSpPr txBox="1">
            <a:spLocks noChangeArrowheads="1"/>
          </p:cNvSpPr>
          <p:nvPr userDrawn="1"/>
        </p:nvSpPr>
        <p:spPr bwMode="auto">
          <a:xfrm>
            <a:off x="990600" y="6376454"/>
            <a:ext cx="4036484" cy="2871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defRPr>
                <a:solidFill>
                  <a:schemeClr val="tx1"/>
                </a:solidFill>
                <a:latin typeface="Arial" charset="0"/>
              </a:defRPr>
            </a:lvl1pPr>
            <a:lvl2pPr marL="742950" indent="-285750">
              <a:defRPr>
                <a:solidFill>
                  <a:schemeClr val="tx1"/>
                </a:solidFill>
                <a:latin typeface="Arial" charset="0"/>
              </a:defRPr>
            </a:lvl2pPr>
            <a:lvl3pPr marL="1143000" indent="-228600">
              <a:defRPr>
                <a:solidFill>
                  <a:schemeClr val="tx1"/>
                </a:solidFill>
                <a:latin typeface="Arial" charset="0"/>
              </a:defRPr>
            </a:lvl3pPr>
            <a:lvl4pPr marL="1600200" indent="-228600">
              <a:defRPr>
                <a:solidFill>
                  <a:schemeClr val="tx1"/>
                </a:solidFill>
                <a:latin typeface="Arial" charset="0"/>
              </a:defRPr>
            </a:lvl4pPr>
            <a:lvl5pPr marL="2057400" indent="-228600">
              <a:defRPr>
                <a:solidFill>
                  <a:schemeClr val="tx1"/>
                </a:solidFill>
                <a:latin typeface="Arial" charset="0"/>
              </a:defRPr>
            </a:lvl5pPr>
            <a:lvl6pPr marL="2514600" indent="-228600" defTabSz="457200" fontAlgn="base">
              <a:spcBef>
                <a:spcPct val="0"/>
              </a:spcBef>
              <a:spcAft>
                <a:spcPct val="0"/>
              </a:spcAft>
              <a:defRPr>
                <a:solidFill>
                  <a:schemeClr val="tx1"/>
                </a:solidFill>
                <a:latin typeface="Arial" charset="0"/>
              </a:defRPr>
            </a:lvl6pPr>
            <a:lvl7pPr marL="2971800" indent="-228600" defTabSz="457200" fontAlgn="base">
              <a:spcBef>
                <a:spcPct val="0"/>
              </a:spcBef>
              <a:spcAft>
                <a:spcPct val="0"/>
              </a:spcAft>
              <a:defRPr>
                <a:solidFill>
                  <a:schemeClr val="tx1"/>
                </a:solidFill>
                <a:latin typeface="Arial" charset="0"/>
              </a:defRPr>
            </a:lvl7pPr>
            <a:lvl8pPr marL="3429000" indent="-228600" defTabSz="457200" fontAlgn="base">
              <a:spcBef>
                <a:spcPct val="0"/>
              </a:spcBef>
              <a:spcAft>
                <a:spcPct val="0"/>
              </a:spcAft>
              <a:defRPr>
                <a:solidFill>
                  <a:schemeClr val="tx1"/>
                </a:solidFill>
                <a:latin typeface="Arial" charset="0"/>
              </a:defRPr>
            </a:lvl8pPr>
            <a:lvl9pPr marL="3886200" indent="-228600" defTabSz="457200" fontAlgn="base">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x-none" sz="933" b="0" i="1" dirty="0">
                <a:solidFill>
                  <a:srgbClr val="7F7F7F"/>
                </a:solidFill>
                <a:latin typeface="Arial" panose="020B0604020202020204" pitchFamily="34" charset="0"/>
                <a:ea typeface="Amazon Ember" charset="0"/>
                <a:cs typeface="Arial" panose="020B0604020202020204" pitchFamily="34" charset="0"/>
              </a:rPr>
              <a:t>Reviewed for technical accuracy Month Day, 2025</a:t>
            </a:r>
          </a:p>
          <a:p>
            <a:pPr eaLnBrk="1" hangingPunct="1"/>
            <a:r>
              <a:rPr lang="en-US" altLang="x-none" sz="933" b="0" i="0" dirty="0">
                <a:solidFill>
                  <a:srgbClr val="7F7F7F"/>
                </a:solidFill>
                <a:latin typeface="Arial" panose="020B0604020202020204" pitchFamily="34" charset="0"/>
                <a:ea typeface="Amazon Ember" charset="0"/>
                <a:cs typeface="Arial" panose="020B0604020202020204" pitchFamily="34" charset="0"/>
              </a:rPr>
              <a:t>© 2025, Amazon Web Services, Inc. or its affiliates. All rights reserved.</a:t>
            </a:r>
          </a:p>
        </p:txBody>
      </p:sp>
      <p:sp>
        <p:nvSpPr>
          <p:cNvPr id="10" name="AWS Reference Architecture text">
            <a:extLst>
              <a:ext uri="{FF2B5EF4-FFF2-40B4-BE49-F238E27FC236}">
                <a16:creationId xmlns:a16="http://schemas.microsoft.com/office/drawing/2014/main" id="{5EF8CEBA-0ED4-8243-9BCD-E9FD95F708AB}"/>
              </a:ext>
            </a:extLst>
          </p:cNvPr>
          <p:cNvSpPr txBox="1"/>
          <p:nvPr userDrawn="1"/>
        </p:nvSpPr>
        <p:spPr>
          <a:xfrm>
            <a:off x="5334000" y="6345238"/>
            <a:ext cx="2895599" cy="320040"/>
          </a:xfrm>
          <a:prstGeom prst="rect">
            <a:avLst/>
          </a:prstGeom>
          <a:noFill/>
        </p:spPr>
        <p:txBody>
          <a:bodyPr wrap="square" rIns="45720" rtlCol="0">
            <a:noAutofit/>
          </a:bodyPr>
          <a:lstStyle/>
          <a:p>
            <a:pPr lvl="0" algn="l" eaLnBrk="0" fontAlgn="base" hangingPunct="0">
              <a:spcBef>
                <a:spcPct val="0"/>
              </a:spcBef>
              <a:spcAft>
                <a:spcPct val="0"/>
              </a:spcAft>
            </a:pPr>
            <a:r>
              <a:rPr lang="en-US" altLang="en-US" sz="1400" b="1" dirty="0">
                <a:solidFill>
                  <a:srgbClr val="FF9900"/>
                </a:solidFill>
                <a:latin typeface="Arial" panose="020B0604020202020204" pitchFamily="34" charset="0"/>
                <a:ea typeface="Amazon Ember" panose="020B0603020204020204" pitchFamily="34" charset="0"/>
                <a:cs typeface="Arial" panose="020B0604020202020204" pitchFamily="34" charset="0"/>
              </a:rPr>
              <a:t>AWS Reference Architecture</a:t>
            </a:r>
          </a:p>
        </p:txBody>
      </p:sp>
      <p:pic>
        <p:nvPicPr>
          <p:cNvPr id="7" name="Graphic 6">
            <a:extLst>
              <a:ext uri="{FF2B5EF4-FFF2-40B4-BE49-F238E27FC236}">
                <a16:creationId xmlns:a16="http://schemas.microsoft.com/office/drawing/2014/main" id="{E8CF8A73-2F72-5D48-9C99-24F2173AD399}"/>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258908" y="6314768"/>
            <a:ext cx="585391" cy="348070"/>
          </a:xfrm>
          <a:prstGeom prst="rect">
            <a:avLst/>
          </a:prstGeom>
        </p:spPr>
      </p:pic>
    </p:spTree>
    <p:extLst>
      <p:ext uri="{BB962C8B-B14F-4D97-AF65-F5344CB8AC3E}">
        <p14:creationId xmlns:p14="http://schemas.microsoft.com/office/powerpoint/2010/main" val="6528555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Amazon Ember" panose="020B0603020204020204" pitchFamily="34" charset="0"/>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Amazon Ember" panose="020B0603020204020204" pitchFamily="34" charset="0"/>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Amazon Ember" panose="020B0603020204020204" pitchFamily="34" charset="0"/>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Amazon Ember" panose="020B0603020204020204" pitchFamily="34" charset="0"/>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mazon Ember" panose="020B0603020204020204" pitchFamily="34" charset="0"/>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Amazon Ember" panose="020B0603020204020204" pitchFamily="34" charset="0"/>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aws.amazon.com/architecture/icons/" TargetMode="External"/><Relationship Id="rId4" Type="http://schemas.openxmlformats.org/officeDocument/2006/relationships/slide" Target="slide2.xml"/><Relationship Id="rId5" Type="http://schemas.openxmlformats.org/officeDocument/2006/relationships/slide" Target="slide5.xml"/><Relationship Id="rId6" Type="http://schemas.openxmlformats.org/officeDocument/2006/relationships/slide" Target="slide6.xml"/><Relationship Id="rId7" Type="http://schemas.openxmlformats.org/officeDocument/2006/relationships/slide" Target="slide3.xml"/><Relationship Id="rId8" Type="http://schemas.openxmlformats.org/officeDocument/2006/relationships/image" Target="../media/image2.svg"/><Relationship Id="rId9" Type="http://schemas.openxmlformats.org/officeDocument/2006/relationships/image" Target="../media/image3.svg"/><Relationship Id="rId10" Type="http://schemas.openxmlformats.org/officeDocument/2006/relationships/image" Target="../media/image4.svg"/><Relationship Id="rId11" Type="http://schemas.openxmlformats.org/officeDocument/2006/relationships/image" Target="../media/image5.png"/><Relationship Id="rId12" Type="http://schemas.openxmlformats.org/officeDocument/2006/relationships/image" Target="../media/image6.png"/><Relationship Id="rId13" Type="http://schemas.openxmlformats.org/officeDocument/2006/relationships/image" Target="../media/image7.png"/><Relationship Id="rId14" Type="http://schemas.openxmlformats.org/officeDocument/2006/relationships/image" Target="../media/image8.svg"/><Relationship Id="rId15" Type="http://schemas.openxmlformats.org/officeDocument/2006/relationships/image" Target="../media/image9.svg"/><Relationship Id="rId16" Type="http://schemas.openxmlformats.org/officeDocument/2006/relationships/image" Target="../media/image10.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aws.amazon.com/solutions/guidance/contextual-intelligence-advertising-using-generative-ai-on-aws/" TargetMode="External"/><Relationship Id="rId3" Type="http://schemas.openxmlformats.org/officeDocument/2006/relationships/hyperlink" Target="https://aws.amazon.com/solutions/guidance/content-moderation-on-aws/" TargetMode="External"/><Relationship Id="rId4" Type="http://schemas.openxmlformats.org/officeDocument/2006/relationships/hyperlink" Target="https://aws.amazon.com/solutions/guidance/launching-a-simple-ecommerce-website-with-wordpress-on-aws/?did=sl_card&amp;trk=sl_card" TargetMode="External"/><Relationship Id="rId5" Type="http://schemas.openxmlformats.org/officeDocument/2006/relationships/hyperlink" Target="https://github.com/aws-solutions-library-samples" TargetMode="External"/><Relationship Id="rId6" Type="http://schemas.openxmlformats.org/officeDocument/2006/relationships/hyperlink" Target="https://aws.amazon.com/solutions/guidance/multi-omics-and-multi-modal-data-integration-and-analysis?did=sl_card&amp;trk=sl_card" TargetMode="External"/><Relationship Id="rId7" Type="http://schemas.openxmlformats.org/officeDocument/2006/relationships/hyperlink" Target="https://aws.amazon.com/solutions/guidance/carbon-footprint-measurement/?did=sl_card&amp;trk=sl_card" TargetMode="External"/><Relationship Id="rId8" Type="http://schemas.openxmlformats.org/officeDocument/2006/relationships/hyperlink" Target="https://aws.amazon.com/solutions/guidance/omni-channel-customer-engagement-for-travel-and-hospitality?did=sl_card&amp;trk=sl_card" TargetMode="External"/><Relationship Id="rId9" Type="http://schemas.openxmlformats.org/officeDocument/2006/relationships/hyperlink" Target="https://w.amazon.com/bin/view/Solutions/Style-Guide/" TargetMode="External"/><Relationship Id="rId10" Type="http://schemas.openxmlformats.org/officeDocument/2006/relationships/hyperlink" Target="https://alpha.www.docs.aws.a2z.com/awsstyleguide/latest/styleguide/Welcome.html" TargetMode="External"/><Relationship Id="rId11" Type="http://schemas.openxmlformats.org/officeDocument/2006/relationships/hyperlink" Target="https://amazon.awsapps.com/workdocs-amazon/index.html#/document/23a9dec941647b8a55e0b514bffe1c3b04fbbe74716313e1867032e5a17618eb"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pathfinder.legal.amazon.dev/#/page/AWSLegalSalesandMarketing-MarketingandPublicRelations-MarketingDosandDontsandReviewofMarketing/live?container=AWSLegalSalesandMarketing-MarketingandPublicRelations-MarketingDosandDontsandReviewofMarketing-isbqw8er3gx6"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svg"/><Relationship Id="rId3" Type="http://schemas.openxmlformats.org/officeDocument/2006/relationships/image" Target="../media/image10.svg"/><Relationship Id="rId4" Type="http://schemas.openxmlformats.org/officeDocument/2006/relationships/image" Target="../media/image13.svg"/><Relationship Id="rId5" Type="http://schemas.openxmlformats.org/officeDocument/2006/relationships/image" Target="../media/image14.svg"/><Relationship Id="rId6" Type="http://schemas.openxmlformats.org/officeDocument/2006/relationships/image" Target="../media/image15.svg"/><Relationship Id="rId7" Type="http://schemas.openxmlformats.org/officeDocument/2006/relationships/image" Target="../media/image16.svg"/><Relationship Id="rId8" Type="http://schemas.openxmlformats.org/officeDocument/2006/relationships/image" Target="../media/image17.svg"/><Relationship Id="rId9" Type="http://schemas.openxmlformats.org/officeDocument/2006/relationships/image" Target="../media/image18.svg"/><Relationship Id="rId10" Type="http://schemas.openxmlformats.org/officeDocument/2006/relationships/image" Target="../media/image19.svg"/><Relationship Id="rId11" Type="http://schemas.openxmlformats.org/officeDocument/2006/relationships/image" Target="../media/image20.svg"/><Relationship Id="rId12" Type="http://schemas.openxmlformats.org/officeDocument/2006/relationships/image" Target="../media/image21.svg"/><Relationship Id="rId13" Type="http://schemas.openxmlformats.org/officeDocument/2006/relationships/image" Target="../media/image4.svg"/><Relationship Id="rId14" Type="http://schemas.openxmlformats.org/officeDocument/2006/relationships/image" Target="../media/image22.svg"/><Relationship Id="rId15" Type="http://schemas.openxmlformats.org/officeDocument/2006/relationships/image" Target="../media/image23.svg"/><Relationship Id="rId16" Type="http://schemas.openxmlformats.org/officeDocument/2006/relationships/image" Target="../media/image24.svg"/><Relationship Id="rId17" Type="http://schemas.openxmlformats.org/officeDocument/2006/relationships/image" Target="../media/image9.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svg"/><Relationship Id="rId3" Type="http://schemas.openxmlformats.org/officeDocument/2006/relationships/image" Target="../media/image26.svg"/><Relationship Id="rId4" Type="http://schemas.openxmlformats.org/officeDocument/2006/relationships/image" Target="../media/image27.svg"/><Relationship Id="rId5" Type="http://schemas.openxmlformats.org/officeDocument/2006/relationships/image" Target="../media/image28.svg"/><Relationship Id="rId6" Type="http://schemas.openxmlformats.org/officeDocument/2006/relationships/image" Target="../media/image29.svg"/><Relationship Id="rId7" Type="http://schemas.openxmlformats.org/officeDocument/2006/relationships/image" Target="../media/image30.svg"/><Relationship Id="rId8" Type="http://schemas.openxmlformats.org/officeDocument/2006/relationships/image" Target="../media/image31.svg"/><Relationship Id="rId9" Type="http://schemas.openxmlformats.org/officeDocument/2006/relationships/hyperlink" Target="https://aws.amazon.com/architecture/icons/" TargetMode="External"/><Relationship Id="rId10" Type="http://schemas.openxmlformats.org/officeDocument/2006/relationships/image" Target="../media/image32.png"/><Relationship Id="rId11" Type="http://schemas.openxmlformats.org/officeDocument/2006/relationships/image" Target="../media/image3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58000" y="0"/>
            <a:ext cx="2286000" cy="6858000"/>
          </a:xfrm>
          <a:prstGeom prst="rect">
            <a:avLst/>
          </a:prstGeom>
          <a:solidFill>
            <a:srgbClr val="EAED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 y="1691640"/>
            <a:ext cx="6583680" cy="4846320"/>
          </a:xfrm>
          <a:prstGeom prst="roundRect">
            <a:avLst/>
          </a:prstGeom>
          <a:solidFill>
            <a:srgbClr val="F7F8F8"/>
          </a:solidFill>
          <a:ln w="19050">
            <a:solidFill>
              <a:srgbClr val="232F3E"/>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274320" y="3154680"/>
            <a:ext cx="6217920" cy="2286000"/>
          </a:xfrm>
          <a:prstGeom prst="roundRect">
            <a:avLst/>
          </a:prstGeom>
          <a:solidFill>
            <a:srgbClr val="FFF8E1"/>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28600" y="1737360"/>
            <a:ext cx="1371600" cy="228600"/>
          </a:xfrm>
          <a:prstGeom prst="rect">
            <a:avLst/>
          </a:prstGeom>
          <a:noFill/>
        </p:spPr>
        <p:txBody>
          <a:bodyPr wrap="square">
            <a:spAutoFit/>
          </a:bodyPr>
          <a:lstStyle/>
          <a:p>
            <a:r>
              <a:rPr sz="900" b="1">
                <a:solidFill>
                  <a:srgbClr val="232F3E"/>
                </a:solidFill>
                <a:latin typeface="Arial"/>
              </a:rPr>
              <a:t>AWS Cloud</a:t>
            </a:r>
          </a:p>
        </p:txBody>
      </p:sp>
      <p:sp>
        <p:nvSpPr>
          <p:cNvPr id="6" name="Rounded Rectangle 5"/>
          <p:cNvSpPr/>
          <p:nvPr/>
        </p:nvSpPr>
        <p:spPr>
          <a:xfrm>
            <a:off x="2103120" y="2011680"/>
            <a:ext cx="2377440" cy="365760"/>
          </a:xfrm>
          <a:prstGeom prst="roundRect">
            <a:avLst/>
          </a:prstGeom>
          <a:solidFill>
            <a:srgbClr val="E8F5E9"/>
          </a:solidFill>
          <a:ln w="1905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User (Natural Language Request)</a:t>
            </a:r>
          </a:p>
        </p:txBody>
      </p:sp>
      <p:sp>
        <p:nvSpPr>
          <p:cNvPr id="7" name="Rounded Rectangle 6"/>
          <p:cNvSpPr/>
          <p:nvPr/>
        </p:nvSpPr>
        <p:spPr>
          <a:xfrm>
            <a:off x="457200" y="2606040"/>
            <a:ext cx="5852160" cy="365760"/>
          </a:xfrm>
          <a:prstGeom prst="roundRect">
            <a:avLst/>
          </a:prstGeom>
          <a:solidFill>
            <a:srgbClr val="FFFFFF"/>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232F3E"/>
                </a:solidFill>
                <a:latin typeface="Arial"/>
              </a:rPr>
              <a:t>Web Application  |  Amazon ECS Fargate + ALB + Amazon Cognito</a:t>
            </a:r>
          </a:p>
        </p:txBody>
      </p:sp>
      <p:sp>
        <p:nvSpPr>
          <p:cNvPr id="8" name="TextBox 7"/>
          <p:cNvSpPr txBox="1"/>
          <p:nvPr/>
        </p:nvSpPr>
        <p:spPr>
          <a:xfrm>
            <a:off x="411480" y="3200400"/>
            <a:ext cx="2743200" cy="228600"/>
          </a:xfrm>
          <a:prstGeom prst="rect">
            <a:avLst/>
          </a:prstGeom>
          <a:noFill/>
        </p:spPr>
        <p:txBody>
          <a:bodyPr wrap="square">
            <a:spAutoFit/>
          </a:bodyPr>
          <a:lstStyle/>
          <a:p>
            <a:r>
              <a:rPr sz="900" b="1">
                <a:solidFill>
                  <a:srgbClr val="E67E00"/>
                </a:solidFill>
                <a:latin typeface="Arial"/>
              </a:rPr>
              <a:t>Amazon Bedrock AgentCore</a:t>
            </a:r>
          </a:p>
        </p:txBody>
      </p:sp>
      <p:sp>
        <p:nvSpPr>
          <p:cNvPr id="9" name="Rounded Rectangle 8"/>
          <p:cNvSpPr/>
          <p:nvPr/>
        </p:nvSpPr>
        <p:spPr>
          <a:xfrm>
            <a:off x="822960" y="3474720"/>
            <a:ext cx="4937760" cy="365760"/>
          </a:xfrm>
          <a:prstGeom prst="roundRect">
            <a:avLst/>
          </a:prstGeom>
          <a:solidFill>
            <a:srgbClr val="FFF3E0"/>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Supervisor Agent  |  Strands SDK + Claude Sonnet 4 + Memory</a:t>
            </a:r>
          </a:p>
        </p:txBody>
      </p:sp>
      <p:sp>
        <p:nvSpPr>
          <p:cNvPr id="10" name="Rounded Rectangle 9"/>
          <p:cNvSpPr/>
          <p:nvPr/>
        </p:nvSpPr>
        <p:spPr>
          <a:xfrm>
            <a:off x="457200" y="4069080"/>
            <a:ext cx="1115568" cy="502920"/>
          </a:xfrm>
          <a:prstGeom prst="roundRect">
            <a:avLst/>
          </a:prstGeom>
          <a:solidFill>
            <a:srgbClr val="FFFFFF"/>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Account
Details</a:t>
            </a:r>
          </a:p>
        </p:txBody>
      </p:sp>
      <p:sp>
        <p:nvSpPr>
          <p:cNvPr id="11" name="Rounded Rectangle 10"/>
          <p:cNvSpPr/>
          <p:nvPr/>
        </p:nvSpPr>
        <p:spPr>
          <a:xfrm>
            <a:off x="1691640" y="4069080"/>
            <a:ext cx="1115568" cy="502920"/>
          </a:xfrm>
          <a:prstGeom prst="roundRect">
            <a:avLst/>
          </a:prstGeom>
          <a:solidFill>
            <a:srgbClr val="FFFFFF"/>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Firewall
Logs</a:t>
            </a:r>
          </a:p>
        </p:txBody>
      </p:sp>
      <p:sp>
        <p:nvSpPr>
          <p:cNvPr id="12" name="Rounded Rectangle 11"/>
          <p:cNvSpPr/>
          <p:nvPr/>
        </p:nvSpPr>
        <p:spPr>
          <a:xfrm>
            <a:off x="2926080" y="4069080"/>
            <a:ext cx="1115568" cy="502920"/>
          </a:xfrm>
          <a:prstGeom prst="roundRect">
            <a:avLst/>
          </a:prstGeom>
          <a:solidFill>
            <a:srgbClr val="FFFFFF"/>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GitSecOps</a:t>
            </a:r>
          </a:p>
        </p:txBody>
      </p:sp>
      <p:sp>
        <p:nvSpPr>
          <p:cNvPr id="13" name="Rounded Rectangle 12"/>
          <p:cNvSpPr/>
          <p:nvPr/>
        </p:nvSpPr>
        <p:spPr>
          <a:xfrm>
            <a:off x="4160520" y="4069080"/>
            <a:ext cx="1115568" cy="502920"/>
          </a:xfrm>
          <a:prstGeom prst="roundRect">
            <a:avLst/>
          </a:prstGeom>
          <a:solidFill>
            <a:srgbClr val="FFFFFF"/>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IPAM</a:t>
            </a:r>
          </a:p>
        </p:txBody>
      </p:sp>
      <p:sp>
        <p:nvSpPr>
          <p:cNvPr id="14" name="Rounded Rectangle 13"/>
          <p:cNvSpPr/>
          <p:nvPr/>
        </p:nvSpPr>
        <p:spPr>
          <a:xfrm>
            <a:off x="5394960" y="4069080"/>
            <a:ext cx="1115568" cy="502920"/>
          </a:xfrm>
          <a:prstGeom prst="roundRect">
            <a:avLst/>
          </a:prstGeom>
          <a:solidFill>
            <a:srgbClr val="FFFFFF"/>
          </a:solidFill>
          <a:ln w="19050">
            <a:solidFill>
              <a:srgbClr val="F8982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232F3E"/>
                </a:solidFill>
                <a:latin typeface="Arial"/>
              </a:rPr>
              <a:t>ServiceNow</a:t>
            </a:r>
          </a:p>
        </p:txBody>
      </p:sp>
      <p:sp>
        <p:nvSpPr>
          <p:cNvPr id="15" name="Rounded Rectangle 14"/>
          <p:cNvSpPr/>
          <p:nvPr/>
        </p:nvSpPr>
        <p:spPr>
          <a:xfrm>
            <a:off x="457200" y="4846320"/>
            <a:ext cx="1115568" cy="457200"/>
          </a:xfrm>
          <a:prstGeom prst="roundRect">
            <a:avLst/>
          </a:prstGeom>
          <a:solidFill>
            <a:srgbClr val="E3F2FD"/>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232F3E"/>
                </a:solidFill>
                <a:latin typeface="Arial"/>
              </a:rPr>
              <a:t>Amazon
DynamoDB</a:t>
            </a:r>
          </a:p>
        </p:txBody>
      </p:sp>
      <p:sp>
        <p:nvSpPr>
          <p:cNvPr id="16" name="Rounded Rectangle 15"/>
          <p:cNvSpPr/>
          <p:nvPr/>
        </p:nvSpPr>
        <p:spPr>
          <a:xfrm>
            <a:off x="1691640" y="4846320"/>
            <a:ext cx="1115568" cy="457200"/>
          </a:xfrm>
          <a:prstGeom prst="roundRect">
            <a:avLst/>
          </a:prstGeom>
          <a:solidFill>
            <a:srgbClr val="E3F2FD"/>
          </a:solidFill>
          <a:ln w="19050">
            <a:solidFill>
              <a:srgbClr val="2196F3"/>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232F3E"/>
                </a:solidFill>
                <a:latin typeface="Arial"/>
              </a:rPr>
              <a:t>Amazon
OpenSearch</a:t>
            </a:r>
          </a:p>
        </p:txBody>
      </p:sp>
      <p:sp>
        <p:nvSpPr>
          <p:cNvPr id="17" name="Rounded Rectangle 16"/>
          <p:cNvSpPr/>
          <p:nvPr/>
        </p:nvSpPr>
        <p:spPr>
          <a:xfrm>
            <a:off x="2926080" y="4846320"/>
            <a:ext cx="1115568" cy="457200"/>
          </a:xfrm>
          <a:prstGeom prst="roundRect">
            <a:avLst/>
          </a:prstGeom>
          <a:solidFill>
            <a:srgbClr val="F3E5F5"/>
          </a:solidFill>
          <a:ln w="19050">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232F3E"/>
                </a:solidFill>
                <a:latin typeface="Arial"/>
              </a:rPr>
              <a:t>Azure
DevOps</a:t>
            </a:r>
          </a:p>
        </p:txBody>
      </p:sp>
      <p:sp>
        <p:nvSpPr>
          <p:cNvPr id="18" name="Rounded Rectangle 17"/>
          <p:cNvSpPr/>
          <p:nvPr/>
        </p:nvSpPr>
        <p:spPr>
          <a:xfrm>
            <a:off x="4160520" y="4846320"/>
            <a:ext cx="1115568" cy="457200"/>
          </a:xfrm>
          <a:prstGeom prst="roundRect">
            <a:avLst/>
          </a:prstGeom>
          <a:solidFill>
            <a:srgbClr val="F3E5F5"/>
          </a:solidFill>
          <a:ln w="19050">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232F3E"/>
                </a:solidFill>
                <a:latin typeface="Arial"/>
              </a:rPr>
              <a:t>IPAM</a:t>
            </a:r>
          </a:p>
        </p:txBody>
      </p:sp>
      <p:sp>
        <p:nvSpPr>
          <p:cNvPr id="19" name="Rounded Rectangle 18"/>
          <p:cNvSpPr/>
          <p:nvPr/>
        </p:nvSpPr>
        <p:spPr>
          <a:xfrm>
            <a:off x="5394960" y="4846320"/>
            <a:ext cx="1115568" cy="457200"/>
          </a:xfrm>
          <a:prstGeom prst="roundRect">
            <a:avLst/>
          </a:prstGeom>
          <a:solidFill>
            <a:srgbClr val="F3E5F5"/>
          </a:solidFill>
          <a:ln w="19050">
            <a:solidFill>
              <a:srgbClr val="9C27B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0">
                <a:solidFill>
                  <a:srgbClr val="232F3E"/>
                </a:solidFill>
                <a:latin typeface="Arial"/>
              </a:rPr>
              <a:t>ServiceNow</a:t>
            </a:r>
          </a:p>
        </p:txBody>
      </p:sp>
      <p:sp>
        <p:nvSpPr>
          <p:cNvPr id="20" name="TextBox 19"/>
          <p:cNvSpPr txBox="1"/>
          <p:nvPr/>
        </p:nvSpPr>
        <p:spPr>
          <a:xfrm>
            <a:off x="274320" y="5532120"/>
            <a:ext cx="6217920" cy="274320"/>
          </a:xfrm>
          <a:prstGeom prst="rect">
            <a:avLst/>
          </a:prstGeom>
          <a:noFill/>
        </p:spPr>
        <p:txBody>
          <a:bodyPr wrap="square">
            <a:spAutoFit/>
          </a:bodyPr>
          <a:lstStyle/>
          <a:p>
            <a:r>
              <a:rPr sz="900" b="0">
                <a:solidFill>
                  <a:srgbClr val="545B64"/>
                </a:solidFill>
                <a:latin typeface="Arial"/>
              </a:rPr>
              <a:t>Additional: Amazon ECR  |  AWS Secrets Manager  |  Amazon CloudWatch  |  AWS IAM</a:t>
            </a:r>
          </a:p>
        </p:txBody>
      </p:sp>
      <p:sp>
        <p:nvSpPr>
          <p:cNvPr id="21" name="TextBox 20"/>
          <p:cNvSpPr txBox="1"/>
          <p:nvPr/>
        </p:nvSpPr>
        <p:spPr>
          <a:xfrm>
            <a:off x="7040880" y="1691640"/>
            <a:ext cx="1920240" cy="274320"/>
          </a:xfrm>
          <a:prstGeom prst="rect">
            <a:avLst/>
          </a:prstGeom>
          <a:noFill/>
        </p:spPr>
        <p:txBody>
          <a:bodyPr wrap="square">
            <a:spAutoFit/>
          </a:bodyPr>
          <a:lstStyle/>
          <a:p>
            <a:r>
              <a:rPr sz="1000" b="1">
                <a:solidFill>
                  <a:srgbClr val="232F3E"/>
                </a:solidFill>
                <a:latin typeface="Arial"/>
              </a:rPr>
              <a:t>Architecture Flow</a:t>
            </a:r>
          </a:p>
        </p:txBody>
      </p:sp>
      <p:sp>
        <p:nvSpPr>
          <p:cNvPr id="22" name="TextBox 21"/>
          <p:cNvSpPr txBox="1"/>
          <p:nvPr/>
        </p:nvSpPr>
        <p:spPr>
          <a:xfrm>
            <a:off x="7040880" y="2057400"/>
            <a:ext cx="1920240" cy="731520"/>
          </a:xfrm>
          <a:prstGeom prst="rect">
            <a:avLst/>
          </a:prstGeom>
          <a:noFill/>
        </p:spPr>
        <p:txBody>
          <a:bodyPr wrap="square">
            <a:spAutoFit/>
          </a:bodyPr>
          <a:lstStyle/>
          <a:p>
            <a:r>
              <a:rPr sz="900" b="0">
                <a:solidFill>
                  <a:srgbClr val="545B64"/>
                </a:solidFill>
                <a:latin typeface="Arial"/>
              </a:rPr>
              <a:t>① User request</a:t>
            </a:r>
          </a:p>
        </p:txBody>
      </p:sp>
      <p:sp>
        <p:nvSpPr>
          <p:cNvPr id="23" name="TextBox 22"/>
          <p:cNvSpPr txBox="1"/>
          <p:nvPr/>
        </p:nvSpPr>
        <p:spPr>
          <a:xfrm>
            <a:off x="7040880" y="2834640"/>
            <a:ext cx="1920240" cy="731520"/>
          </a:xfrm>
          <a:prstGeom prst="rect">
            <a:avLst/>
          </a:prstGeom>
          <a:noFill/>
        </p:spPr>
        <p:txBody>
          <a:bodyPr wrap="square">
            <a:spAutoFit/>
          </a:bodyPr>
          <a:lstStyle/>
          <a:p>
            <a:r>
              <a:rPr sz="900" b="0">
                <a:solidFill>
                  <a:srgbClr val="545B64"/>
                </a:solidFill>
                <a:latin typeface="Arial"/>
              </a:rPr>
              <a:t>② Cognito + Azure AD
   authentication</a:t>
            </a:r>
          </a:p>
        </p:txBody>
      </p:sp>
      <p:sp>
        <p:nvSpPr>
          <p:cNvPr id="24" name="TextBox 23"/>
          <p:cNvSpPr txBox="1"/>
          <p:nvPr/>
        </p:nvSpPr>
        <p:spPr>
          <a:xfrm>
            <a:off x="7040880" y="3611880"/>
            <a:ext cx="1920240" cy="731520"/>
          </a:xfrm>
          <a:prstGeom prst="rect">
            <a:avLst/>
          </a:prstGeom>
          <a:noFill/>
        </p:spPr>
        <p:txBody>
          <a:bodyPr wrap="square">
            <a:spAutoFit/>
          </a:bodyPr>
          <a:lstStyle/>
          <a:p>
            <a:r>
              <a:rPr sz="900" b="0">
                <a:solidFill>
                  <a:srgbClr val="545B64"/>
                </a:solidFill>
                <a:latin typeface="Arial"/>
              </a:rPr>
              <a:t>③ InvokeAgentRuntime
   API call</a:t>
            </a:r>
          </a:p>
        </p:txBody>
      </p:sp>
      <p:sp>
        <p:nvSpPr>
          <p:cNvPr id="25" name="TextBox 24"/>
          <p:cNvSpPr txBox="1"/>
          <p:nvPr/>
        </p:nvSpPr>
        <p:spPr>
          <a:xfrm>
            <a:off x="7040880" y="4389120"/>
            <a:ext cx="1920240" cy="731520"/>
          </a:xfrm>
          <a:prstGeom prst="rect">
            <a:avLst/>
          </a:prstGeom>
          <a:noFill/>
        </p:spPr>
        <p:txBody>
          <a:bodyPr wrap="square">
            <a:spAutoFit/>
          </a:bodyPr>
          <a:lstStyle/>
          <a:p>
            <a:r>
              <a:rPr sz="900" b="0">
                <a:solidFill>
                  <a:srgbClr val="545B64"/>
                </a:solidFill>
                <a:latin typeface="Arial"/>
              </a:rPr>
              <a:t>④ Supervisor delegates
   to specialist agents</a:t>
            </a:r>
          </a:p>
        </p:txBody>
      </p:sp>
      <p:sp>
        <p:nvSpPr>
          <p:cNvPr id="26" name="TextBox 25"/>
          <p:cNvSpPr txBox="1"/>
          <p:nvPr/>
        </p:nvSpPr>
        <p:spPr>
          <a:xfrm>
            <a:off x="7040880" y="5166360"/>
            <a:ext cx="1920240" cy="731520"/>
          </a:xfrm>
          <a:prstGeom prst="rect">
            <a:avLst/>
          </a:prstGeom>
          <a:noFill/>
        </p:spPr>
        <p:txBody>
          <a:bodyPr wrap="square">
            <a:spAutoFit/>
          </a:bodyPr>
          <a:lstStyle/>
          <a:p>
            <a:r>
              <a:rPr sz="900" b="0">
                <a:solidFill>
                  <a:srgbClr val="545B64"/>
                </a:solidFill>
                <a:latin typeface="Arial"/>
              </a:rPr>
              <a:t>⑤ Backend calls (DDB,
   OS, Git, IPAM)</a:t>
            </a:r>
          </a:p>
        </p:txBody>
      </p:sp>
      <p:sp>
        <p:nvSpPr>
          <p:cNvPr id="27" name="TextBox 26"/>
          <p:cNvSpPr txBox="1"/>
          <p:nvPr/>
        </p:nvSpPr>
        <p:spPr>
          <a:xfrm>
            <a:off x="7040880" y="5943600"/>
            <a:ext cx="1920240" cy="731520"/>
          </a:xfrm>
          <a:prstGeom prst="rect">
            <a:avLst/>
          </a:prstGeom>
          <a:noFill/>
        </p:spPr>
        <p:txBody>
          <a:bodyPr wrap="square">
            <a:spAutoFit/>
          </a:bodyPr>
          <a:lstStyle/>
          <a:p>
            <a:r>
              <a:rPr sz="900" b="0">
                <a:solidFill>
                  <a:srgbClr val="545B64"/>
                </a:solidFill>
                <a:latin typeface="Arial"/>
              </a:rPr>
              <a:t>⑥ SSE streaming
   response to user</a:t>
            </a:r>
          </a:p>
        </p:txBody>
      </p:sp>
      <p:sp>
        <p:nvSpPr>
          <p:cNvPr id="28" name="Title text box"/>
          <p:cNvSpPr txBox="1"/>
          <p:nvPr/>
        </p:nvSpPr>
        <p:spPr>
          <a:xfrm>
            <a:off x="45720" y="91440"/>
            <a:ext cx="6583680" cy="548640"/>
          </a:xfrm>
          <a:prstGeom prst="rect">
            <a:avLst/>
          </a:prstGeom>
          <a:noFill/>
        </p:spPr>
        <p:txBody>
          <a:bodyPr wrap="square">
            <a:spAutoFit/>
          </a:bodyPr>
          <a:lstStyle/>
          <a:p>
            <a:r>
              <a:rPr sz="1800" b="1">
                <a:solidFill>
                  <a:srgbClr val="232F3E"/>
                </a:solidFill>
                <a:latin typeface="Arial"/>
              </a:rPr>
              <a:t>Guidance for Automated Network Firewall Rule Management using Amazon Bedrock AgentCore on AWS</a:t>
            </a:r>
          </a:p>
        </p:txBody>
      </p:sp>
      <p:sp>
        <p:nvSpPr>
          <p:cNvPr id="29" name="TextBox 28"/>
          <p:cNvSpPr txBox="1"/>
          <p:nvPr/>
        </p:nvSpPr>
        <p:spPr>
          <a:xfrm>
            <a:off x="45720" y="685800"/>
            <a:ext cx="6583680" cy="365760"/>
          </a:xfrm>
          <a:prstGeom prst="rect">
            <a:avLst/>
          </a:prstGeom>
          <a:noFill/>
        </p:spPr>
        <p:txBody>
          <a:bodyPr wrap="square">
            <a:spAutoFit/>
          </a:bodyPr>
          <a:lstStyle/>
          <a:p>
            <a:r>
              <a:rPr sz="900" b="0">
                <a:solidFill>
                  <a:srgbClr val="545B64"/>
                </a:solidFill>
                <a:latin typeface="Arial"/>
              </a:rPr>
              <a:t>Multi-agent system automating AWS Network Firewall rule lifecycle with natural language, IPAM validation, GitSecOps, and change management.</a:t>
            </a:r>
          </a:p>
        </p:txBody>
      </p:sp>
      <p:cxnSp>
        <p:nvCxnSpPr>
          <p:cNvPr id="30" name="Separator"/>
          <p:cNvCxnSpPr/>
          <p:nvPr/>
        </p:nvCxnSpPr>
        <p:spPr>
          <a:xfrm>
            <a:off x="45720" y="1097280"/>
            <a:ext cx="8641080" cy="0"/>
          </a:xfrm>
          <a:prstGeom prst="line">
            <a:avLst/>
          </a:prstGeom>
          <a:ln w="25400">
            <a:solidFill>
              <a:srgbClr val="545B64"/>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66614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4089F-84A1-43FD-8F44-D8722FD992C1}"/>
              </a:ext>
            </a:extLst>
          </p:cNvPr>
          <p:cNvSpPr>
            <a:spLocks noGrp="1"/>
          </p:cNvSpPr>
          <p:nvPr>
            <p:ph type="title" idx="4294967295"/>
          </p:nvPr>
        </p:nvSpPr>
        <p:spPr>
          <a:xfrm>
            <a:off x="215900" y="58738"/>
            <a:ext cx="10515600" cy="1325563"/>
          </a:xfrm>
        </p:spPr>
        <p:txBody>
          <a:bodyPr/>
          <a:lstStyle/>
          <a:p>
            <a:r>
              <a:rPr lang="en-US" sz="2800" b="1" dirty="0">
                <a:latin typeface="Arial" panose="020B0604020202020204" pitchFamily="34" charset="0"/>
                <a:cs typeface="Arial" panose="020B0604020202020204" pitchFamily="34" charset="0"/>
              </a:rPr>
              <a:t>Guidance Examples and Additional Resources</a:t>
            </a:r>
            <a:br>
              <a:rPr lang="en-US" sz="2800" b="1" dirty="0">
                <a:latin typeface="Arial" panose="020B0604020202020204" pitchFamily="34" charset="0"/>
                <a:cs typeface="Arial" panose="020B0604020202020204" pitchFamily="34" charset="0"/>
              </a:rPr>
            </a:br>
            <a:endParaRPr lang="en-US" sz="2800" b="1"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EEF04831-297E-4422-9D67-1749558AC117}"/>
              </a:ext>
            </a:extLst>
          </p:cNvPr>
          <p:cNvSpPr>
            <a:spLocks noGrp="1"/>
          </p:cNvSpPr>
          <p:nvPr>
            <p:ph idx="4294967295"/>
          </p:nvPr>
        </p:nvSpPr>
        <p:spPr>
          <a:xfrm>
            <a:off x="127000" y="838200"/>
            <a:ext cx="11849100" cy="4983163"/>
          </a:xfrm>
        </p:spPr>
        <p:txBody>
          <a:bodyPr>
            <a:normAutofit fontScale="85000" lnSpcReduction="20000"/>
          </a:bodyPr>
          <a:lstStyle/>
          <a:p>
            <a:pPr marL="0" indent="0">
              <a:lnSpc>
                <a:spcPct val="120000"/>
              </a:lnSpc>
              <a:buNone/>
            </a:pPr>
            <a:r>
              <a:rPr lang="en-US" sz="1700" b="1" dirty="0"/>
              <a:t>Guidance Examples</a:t>
            </a:r>
            <a:endParaRPr lang="en-US" sz="1700" b="1" dirty="0">
              <a:latin typeface="Arial" panose="020B0604020202020204" pitchFamily="34" charset="0"/>
              <a:cs typeface="Arial" panose="020B0604020202020204" pitchFamily="34" charset="0"/>
            </a:endParaRPr>
          </a:p>
          <a:p>
            <a:pPr marL="514350" indent="-514350">
              <a:lnSpc>
                <a:spcPct val="120000"/>
              </a:lnSpc>
              <a:buFont typeface="+mj-lt"/>
              <a:buAutoNum type="arabicPeriod"/>
            </a:pPr>
            <a:r>
              <a:rPr lang="en-US" sz="1700" dirty="0">
                <a:latin typeface="Arial" panose="020B0604020202020204" pitchFamily="34" charset="0"/>
                <a:cs typeface="Arial" panose="020B0604020202020204" pitchFamily="34" charset="0"/>
              </a:rPr>
              <a:t>Guidance for </a:t>
            </a:r>
            <a:r>
              <a:rPr lang="en-US" sz="1700" dirty="0">
                <a:latin typeface="Arial" panose="020B0604020202020204" pitchFamily="34" charset="0"/>
                <a:cs typeface="Arial" panose="020B0604020202020204" pitchFamily="34" charset="0"/>
                <a:hlinkClick r:id="rId2"/>
              </a:rPr>
              <a:t>Guidance for Contextual Intelligence for Advertising Using Generative AI on AWS </a:t>
            </a:r>
            <a:r>
              <a:rPr lang="en-US" sz="1700" dirty="0">
                <a:latin typeface="Arial" panose="020B0604020202020204" pitchFamily="34" charset="0"/>
                <a:cs typeface="Arial" panose="020B0604020202020204" pitchFamily="34" charset="0"/>
              </a:rPr>
              <a:t>is an example of Guidance with the minimal bill of materials (i.e. Architecture Diagram and Well-Architected Pillars)</a:t>
            </a:r>
          </a:p>
          <a:p>
            <a:pPr marL="514350" indent="-514350">
              <a:lnSpc>
                <a:spcPct val="120000"/>
              </a:lnSpc>
              <a:buFont typeface="+mj-lt"/>
              <a:buAutoNum type="arabicPeriod"/>
            </a:pPr>
            <a:r>
              <a:rPr lang="en-US" sz="1700" dirty="0">
                <a:latin typeface="Arial" panose="020B0604020202020204" pitchFamily="34" charset="0"/>
                <a:cs typeface="Arial" panose="020B0604020202020204" pitchFamily="34" charset="0"/>
                <a:hlinkClick r:id="rId3"/>
              </a:rPr>
              <a:t>Guidance for Content Moderation on AWS</a:t>
            </a:r>
            <a:r>
              <a:rPr lang="en-US" sz="1700" dirty="0">
                <a:latin typeface="Arial" panose="020B0604020202020204" pitchFamily="34" charset="0"/>
                <a:cs typeface="Arial" panose="020B0604020202020204" pitchFamily="34" charset="0"/>
              </a:rPr>
              <a:t> is an example of Guidance with optional related content (i.e. blogs, e-books)</a:t>
            </a:r>
          </a:p>
          <a:p>
            <a:pPr marL="514350" indent="-514350">
              <a:lnSpc>
                <a:spcPct val="120000"/>
              </a:lnSpc>
              <a:buFont typeface="+mj-lt"/>
              <a:buAutoNum type="arabicPeriod"/>
            </a:pPr>
            <a:r>
              <a:rPr lang="en-US" sz="1700" dirty="0">
                <a:latin typeface="Arial" panose="020B0604020202020204" pitchFamily="34" charset="0"/>
                <a:cs typeface="Arial" panose="020B0604020202020204" pitchFamily="34" charset="0"/>
                <a:hlinkClick r:id="rId4"/>
              </a:rPr>
              <a:t>Guidance for Launching a Simple E-commerce Website with WordPress on AWS</a:t>
            </a:r>
            <a:r>
              <a:rPr lang="en-US" sz="1700" dirty="0">
                <a:latin typeface="Arial" panose="020B0604020202020204" pitchFamily="34" charset="0"/>
                <a:cs typeface="Arial" panose="020B0604020202020204" pitchFamily="34" charset="0"/>
              </a:rPr>
              <a:t> is an example of Guidance with sample code (published on </a:t>
            </a:r>
            <a:r>
              <a:rPr lang="en-US" sz="1700" dirty="0">
                <a:latin typeface="Arial" panose="020B0604020202020204" pitchFamily="34" charset="0"/>
                <a:cs typeface="Arial" panose="020B0604020202020204" pitchFamily="34" charset="0"/>
                <a:hlinkClick r:id="rId5"/>
              </a:rPr>
              <a:t>aws-solutions-library-samples</a:t>
            </a:r>
            <a:r>
              <a:rPr lang="en-US" sz="1700" dirty="0">
                <a:latin typeface="Arial" panose="020B0604020202020204" pitchFamily="34" charset="0"/>
                <a:cs typeface="Arial" panose="020B0604020202020204" pitchFamily="34" charset="0"/>
              </a:rPr>
              <a:t>) and Implementation Guide</a:t>
            </a:r>
          </a:p>
          <a:p>
            <a:pPr marL="514350" indent="-514350">
              <a:lnSpc>
                <a:spcPct val="120000"/>
              </a:lnSpc>
              <a:buFont typeface="+mj-lt"/>
              <a:buAutoNum type="arabicPeriod"/>
            </a:pPr>
            <a:r>
              <a:rPr lang="en-US" sz="1700" dirty="0">
                <a:latin typeface="Arial" panose="020B0604020202020204" pitchFamily="34" charset="0"/>
                <a:cs typeface="Arial" panose="020B0604020202020204" pitchFamily="34" charset="0"/>
                <a:hlinkClick r:id="rId6"/>
              </a:rPr>
              <a:t>Guidance for Multi-Omics and Multi-Modal Data Integration and Analysis on AWS</a:t>
            </a:r>
            <a:r>
              <a:rPr lang="en-US" sz="1700" dirty="0">
                <a:latin typeface="Arial" panose="020B0604020202020204" pitchFamily="34" charset="0"/>
                <a:cs typeface="Arial" panose="020B0604020202020204" pitchFamily="34" charset="0"/>
              </a:rPr>
              <a:t> is an example of Guidance with sample code and additional architectural considerations</a:t>
            </a:r>
          </a:p>
          <a:p>
            <a:pPr marL="514350" indent="-514350">
              <a:lnSpc>
                <a:spcPct val="120000"/>
              </a:lnSpc>
              <a:buFont typeface="+mj-lt"/>
              <a:buAutoNum type="arabicPeriod"/>
            </a:pPr>
            <a:r>
              <a:rPr lang="en-US" sz="1700" dirty="0">
                <a:latin typeface="Arial" panose="020B0604020202020204" pitchFamily="34" charset="0"/>
                <a:cs typeface="Arial" panose="020B0604020202020204" pitchFamily="34" charset="0"/>
                <a:hlinkClick r:id="rId7"/>
              </a:rPr>
              <a:t>Guidance for Carbon Accounting on AWS</a:t>
            </a:r>
            <a:r>
              <a:rPr lang="en-US" sz="1700" dirty="0">
                <a:latin typeface="Arial" panose="020B0604020202020204" pitchFamily="34" charset="0"/>
                <a:cs typeface="Arial" panose="020B0604020202020204" pitchFamily="34" charset="0"/>
              </a:rPr>
              <a:t> is an example of Guidance with multi-step architecture diagram</a:t>
            </a:r>
          </a:p>
          <a:p>
            <a:pPr marL="514350" indent="-514350">
              <a:lnSpc>
                <a:spcPct val="120000"/>
              </a:lnSpc>
              <a:buFont typeface="+mj-lt"/>
              <a:buAutoNum type="arabicPeriod"/>
            </a:pPr>
            <a:r>
              <a:rPr lang="en-US" sz="1700" dirty="0">
                <a:latin typeface="Arial" panose="020B0604020202020204" pitchFamily="34" charset="0"/>
                <a:cs typeface="Arial" panose="020B0604020202020204" pitchFamily="34" charset="0"/>
                <a:hlinkClick r:id="rId8"/>
              </a:rPr>
              <a:t>Guidance for Omni-Channel Customer Engagement for Travel &amp; Hospitality</a:t>
            </a:r>
            <a:r>
              <a:rPr lang="en-US" sz="1700" dirty="0">
                <a:latin typeface="Arial" panose="020B0604020202020204" pitchFamily="34" charset="0"/>
                <a:cs typeface="Arial" panose="020B0604020202020204" pitchFamily="34" charset="0"/>
              </a:rPr>
              <a:t> is an example of Guidance with two variations of an architecture diagram targeting closely related use cases</a:t>
            </a:r>
          </a:p>
          <a:p>
            <a:pPr marL="0" indent="0">
              <a:lnSpc>
                <a:spcPct val="120000"/>
              </a:lnSpc>
              <a:buNone/>
            </a:pPr>
            <a:r>
              <a:rPr lang="en-US" sz="1700" b="1" dirty="0">
                <a:latin typeface="Arial" panose="020B0604020202020204" pitchFamily="34" charset="0"/>
                <a:cs typeface="Arial" panose="020B0604020202020204" pitchFamily="34" charset="0"/>
              </a:rPr>
              <a:t>Additional Resources</a:t>
            </a:r>
          </a:p>
          <a:p>
            <a:pPr marL="514350" indent="-514350">
              <a:lnSpc>
                <a:spcPct val="120000"/>
              </a:lnSpc>
              <a:buAutoNum type="arabicPeriod"/>
            </a:pPr>
            <a:r>
              <a:rPr lang="en-US" sz="1700" dirty="0">
                <a:hlinkClick r:id="rId9"/>
              </a:rPr>
              <a:t>Solutions Naming &amp; Style Guide</a:t>
            </a:r>
            <a:endParaRPr lang="en-US" sz="1700" dirty="0"/>
          </a:p>
          <a:p>
            <a:pPr marL="514350" indent="-514350">
              <a:lnSpc>
                <a:spcPct val="120000"/>
              </a:lnSpc>
              <a:buAutoNum type="arabicPeriod"/>
            </a:pPr>
            <a:r>
              <a:rPr lang="en-US" sz="1700" dirty="0">
                <a:latin typeface="Arial" panose="020B0604020202020204" pitchFamily="34" charset="0"/>
                <a:cs typeface="Arial" panose="020B0604020202020204" pitchFamily="34" charset="0"/>
                <a:hlinkClick r:id="rId10"/>
              </a:rPr>
              <a:t>AWS Style Guide</a:t>
            </a:r>
            <a:r>
              <a:rPr lang="en-US" sz="1700" dirty="0">
                <a:latin typeface="Arial" panose="020B0604020202020204" pitchFamily="34" charset="0"/>
                <a:cs typeface="Arial" panose="020B0604020202020204" pitchFamily="34" charset="0"/>
              </a:rPr>
              <a:t> </a:t>
            </a:r>
          </a:p>
          <a:p>
            <a:pPr marL="514350" indent="-514350">
              <a:lnSpc>
                <a:spcPct val="120000"/>
              </a:lnSpc>
              <a:buAutoNum type="arabicPeriod"/>
            </a:pPr>
            <a:r>
              <a:rPr lang="en-US" sz="1700" dirty="0">
                <a:latin typeface="Arial" panose="020B0604020202020204" pitchFamily="34" charset="0"/>
                <a:cs typeface="Arial" panose="020B0604020202020204" pitchFamily="34" charset="0"/>
                <a:hlinkClick r:id="rId11"/>
              </a:rPr>
              <a:t>Guidance Guardian Checklist</a:t>
            </a:r>
            <a:br>
              <a:rPr lang="en-US" sz="1400" dirty="0">
                <a:latin typeface="Arial" panose="020B0604020202020204" pitchFamily="34" charset="0"/>
                <a:cs typeface="Arial" panose="020B0604020202020204" pitchFamily="34" charset="0"/>
              </a:rPr>
            </a:br>
            <a:endParaRPr lang="en-US" sz="1400" dirty="0">
              <a:latin typeface="Arial" panose="020B0604020202020204" pitchFamily="34" charset="0"/>
              <a:cs typeface="Arial" panose="020B0604020202020204" pitchFamily="34" charset="0"/>
            </a:endParaRPr>
          </a:p>
        </p:txBody>
      </p:sp>
      <p:sp>
        <p:nvSpPr>
          <p:cNvPr id="7" name="AutoShape 4" descr="Guidance Example 3">
            <a:hlinkClick r:id="rId4"/>
            <a:extLst>
              <a:ext uri="{FF2B5EF4-FFF2-40B4-BE49-F238E27FC236}">
                <a16:creationId xmlns:a16="http://schemas.microsoft.com/office/drawing/2014/main" id="{4523C449-C7F2-4DA1-B8FC-02FC1F5F8DC7}"/>
              </a:ext>
            </a:extLst>
          </p:cNvPr>
          <p:cNvSpPr>
            <a:spLocks noChangeAspect="1" noChangeArrowheads="1"/>
          </p:cNvSpPr>
          <p:nvPr/>
        </p:nvSpPr>
        <p:spPr bwMode="auto">
          <a:xfrm>
            <a:off x="127000" y="-1636713"/>
            <a:ext cx="2857500" cy="169545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233806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text box">
            <a:extLst>
              <a:ext uri="{FF2B5EF4-FFF2-40B4-BE49-F238E27FC236}">
                <a16:creationId xmlns:a16="http://schemas.microsoft.com/office/drawing/2014/main" id="{DC8F65F1-94C4-4989-9B6D-0353A9ED3EBF}"/>
              </a:ext>
            </a:extLst>
          </p:cNvPr>
          <p:cNvSpPr txBox="1"/>
          <p:nvPr/>
        </p:nvSpPr>
        <p:spPr>
          <a:xfrm>
            <a:off x="228600" y="290999"/>
            <a:ext cx="11734800" cy="769441"/>
          </a:xfrm>
          <a:prstGeom prst="rect">
            <a:avLst/>
          </a:prstGeom>
          <a:noFill/>
        </p:spPr>
        <p:txBody>
          <a:bodyPr wrap="square" rtlCol="0">
            <a:spAutoFit/>
          </a:bodyPr>
          <a:lstStyle/>
          <a:p>
            <a:r>
              <a:rPr lang="en-US" sz="2800" b="1" dirty="0">
                <a:latin typeface="Arial" panose="020B0604020202020204" pitchFamily="34" charset="0"/>
                <a:ea typeface="Amazon Ember" panose="020B0603020204020204" pitchFamily="34" charset="0"/>
                <a:cs typeface="Arial" panose="020B0604020202020204" pitchFamily="34" charset="0"/>
              </a:rPr>
              <a:t>Third-Party Mentions</a:t>
            </a:r>
            <a:br>
              <a:rPr lang="en-US" sz="2400" b="1" dirty="0">
                <a:latin typeface="Arial" panose="020B0604020202020204" pitchFamily="34" charset="0"/>
                <a:ea typeface="Amazon Ember" panose="020B0603020204020204" pitchFamily="34" charset="0"/>
                <a:cs typeface="Arial" panose="020B0604020202020204" pitchFamily="34" charset="0"/>
              </a:rPr>
            </a:br>
            <a:endParaRPr lang="en-US" sz="1600" dirty="0"/>
          </a:p>
        </p:txBody>
      </p:sp>
      <p:sp>
        <p:nvSpPr>
          <p:cNvPr id="25" name="Rectangle 24">
            <a:extLst>
              <a:ext uri="{FF2B5EF4-FFF2-40B4-BE49-F238E27FC236}">
                <a16:creationId xmlns:a16="http://schemas.microsoft.com/office/drawing/2014/main" id="{96EB3A1A-F298-4302-9E12-DC2E0242A1D1}"/>
              </a:ext>
            </a:extLst>
          </p:cNvPr>
          <p:cNvSpPr/>
          <p:nvPr/>
        </p:nvSpPr>
        <p:spPr>
          <a:xfrm>
            <a:off x="609600" y="914400"/>
            <a:ext cx="9448800" cy="5262979"/>
          </a:xfrm>
          <a:prstGeom prst="rect">
            <a:avLst/>
          </a:prstGeom>
        </p:spPr>
        <p:txBody>
          <a:bodyPr wrap="square">
            <a:spAutoFit/>
          </a:bodyPr>
          <a:lstStyle/>
          <a:p>
            <a:pPr marL="285750" lvl="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References to third-party names are permissible in our architectures.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Per the </a:t>
            </a:r>
            <a:r>
              <a:rPr lang="en-US" sz="1600" u="sng" dirty="0">
                <a:latin typeface="Arial" panose="020B0604020202020204" pitchFamily="34" charset="0"/>
                <a:cs typeface="Arial" panose="020B0604020202020204" pitchFamily="34" charset="0"/>
                <a:hlinkClick r:id="rId2"/>
              </a:rPr>
              <a:t>Messaging Do’s and Don’t’s</a:t>
            </a:r>
            <a:r>
              <a:rPr lang="en-US" sz="1600" dirty="0">
                <a:latin typeface="Arial" panose="020B0604020202020204" pitchFamily="34" charset="0"/>
                <a:cs typeface="Arial" panose="020B0604020202020204" pitchFamily="34" charset="0"/>
              </a:rPr>
              <a:t>, we do not need to add trademarks or symbols for references to third-party names, and we no longer need to consult the third-party branding guidelines for each mention of third parties. This applies to the third-party mentions in the architecture diagram and any content on the Guidance landing page (title, WAF, etc.). </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Our standard policy is not use third-party icons (or logos) without permission of the third-party, and instead use the third-party name only.</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However, if the logos are important to the comprehension of the diagram, the logos may be used subject to the following requirements:</a:t>
            </a:r>
          </a:p>
          <a:p>
            <a:pPr marL="1257300" lvl="2" indent="-342900">
              <a:buFont typeface="+mj-lt"/>
              <a:buAutoNum type="alphaLcPeriod"/>
            </a:pPr>
            <a:r>
              <a:rPr lang="en-US" sz="1600" dirty="0">
                <a:latin typeface="Arial" panose="020B0604020202020204" pitchFamily="34" charset="0"/>
                <a:cs typeface="Arial" panose="020B0604020202020204" pitchFamily="34" charset="0"/>
              </a:rPr>
              <a:t>Do not alter or modify a third-party’s logo, and solely use the logo as it is featured in the third-party’s brand guidelines (often found on the third-party’s website);</a:t>
            </a:r>
          </a:p>
          <a:p>
            <a:pPr marL="1257300" lvl="2" indent="-342900">
              <a:buFont typeface="+mj-lt"/>
              <a:buAutoNum type="alphaLcPeriod"/>
            </a:pPr>
            <a:r>
              <a:rPr lang="en-US" sz="1600" dirty="0">
                <a:latin typeface="Arial" panose="020B0604020202020204" pitchFamily="34" charset="0"/>
                <a:cs typeface="Arial" panose="020B0604020202020204" pitchFamily="34" charset="0"/>
              </a:rPr>
              <a:t>Do not imply, in any way, that AWS is endorsed, sponsored by, or affiliated with the third-party;</a:t>
            </a:r>
          </a:p>
          <a:p>
            <a:pPr marL="1257300" lvl="2" indent="-342900">
              <a:buFont typeface="+mj-lt"/>
              <a:buAutoNum type="alphaLcPeriod"/>
            </a:pPr>
            <a:r>
              <a:rPr lang="en-US" sz="1600" dirty="0">
                <a:latin typeface="Arial" panose="020B0604020202020204" pitchFamily="34" charset="0"/>
                <a:cs typeface="Arial" panose="020B0604020202020204" pitchFamily="34" charset="0"/>
              </a:rPr>
              <a:t>Be prepared to quickly remove the third-party’s logo should the third-party object; and</a:t>
            </a:r>
          </a:p>
          <a:p>
            <a:pPr marL="1257300" lvl="2" indent="-342900">
              <a:buFont typeface="+mj-lt"/>
              <a:buAutoNum type="alphaLcPeriod"/>
            </a:pPr>
            <a:r>
              <a:rPr lang="en-US" sz="1600" dirty="0">
                <a:latin typeface="Arial" panose="020B0604020202020204" pitchFamily="34" charset="0"/>
                <a:cs typeface="Arial" panose="020B0604020202020204" pitchFamily="34" charset="0"/>
              </a:rPr>
              <a:t>For all other questions on the use of third-party logos and names, follow the </a:t>
            </a:r>
            <a:r>
              <a:rPr lang="en-US" sz="1600" dirty="0">
                <a:latin typeface="Arial" panose="020B0604020202020204" pitchFamily="34" charset="0"/>
                <a:cs typeface="Arial" panose="020B0604020202020204" pitchFamily="34" charset="0"/>
                <a:hlinkClick r:id="rId2"/>
              </a:rPr>
              <a:t>Messaging Dos &amp; Don’t’s</a:t>
            </a:r>
            <a:r>
              <a:rPr lang="en-US" sz="1600" dirty="0">
                <a:latin typeface="Arial" panose="020B0604020202020204" pitchFamily="34" charset="0"/>
                <a:cs typeface="Arial" panose="020B0604020202020204" pitchFamily="34" charset="0"/>
              </a:rPr>
              <a:t>.</a:t>
            </a:r>
          </a:p>
          <a:p>
            <a:pPr marL="285750"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The following disclaimer is published on Guidance pages that mention third parties: </a:t>
            </a:r>
            <a:r>
              <a:rPr lang="en-US" sz="1600" i="1" dirty="0">
                <a:latin typeface="Arial" panose="020B0604020202020204" pitchFamily="34" charset="0"/>
                <a:cs typeface="Arial" panose="020B0604020202020204" pitchFamily="34" charset="0"/>
              </a:rPr>
              <a:t>References to third-party services or organizations in this Guidance do not imply an endorsement, sponsorship, or affiliation between Amazon or AWS and the third party. Guidance from AWS is a technical starting point, and you can customize your integration with third-party services when you deploy the </a:t>
            </a: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80181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text box">
            <a:extLst>
              <a:ext uri="{FF2B5EF4-FFF2-40B4-BE49-F238E27FC236}">
                <a16:creationId xmlns:a16="http://schemas.microsoft.com/office/drawing/2014/main" id="{DC8F65F1-94C4-4989-9B6D-0353A9ED3EBF}"/>
              </a:ext>
            </a:extLst>
          </p:cNvPr>
          <p:cNvSpPr txBox="1"/>
          <p:nvPr/>
        </p:nvSpPr>
        <p:spPr>
          <a:xfrm>
            <a:off x="281372" y="158447"/>
            <a:ext cx="11658600" cy="1138773"/>
          </a:xfrm>
          <a:prstGeom prst="rect">
            <a:avLst/>
          </a:prstGeom>
          <a:noFill/>
        </p:spPr>
        <p:txBody>
          <a:bodyPr wrap="square" rtlCol="0">
            <a:spAutoFit/>
          </a:bodyPr>
          <a:lstStyle/>
          <a:p>
            <a:r>
              <a:rPr lang="en-US" sz="2800" b="1" dirty="0">
                <a:latin typeface="Arial" panose="020B0604020202020204" pitchFamily="34" charset="0"/>
                <a:ea typeface="Amazon Ember" panose="020B0603020204020204" pitchFamily="34" charset="0"/>
                <a:cs typeface="Arial" panose="020B0604020202020204" pitchFamily="34" charset="0"/>
              </a:rPr>
              <a:t>Grouping</a:t>
            </a:r>
          </a:p>
          <a:p>
            <a:r>
              <a:rPr lang="en-US" sz="1400" dirty="0">
                <a:latin typeface="Arial" panose="020B0604020202020204" pitchFamily="34" charset="0"/>
                <a:ea typeface="Amazon Ember" panose="020B0603020204020204" pitchFamily="34" charset="0"/>
                <a:cs typeface="Arial" panose="020B0604020202020204" pitchFamily="34" charset="0"/>
              </a:rPr>
              <a:t>Services are categorized by technology and grouped in an architecture diagram. Each group consist of an icon and a label. Colors and lines help to distinguish the groups.  </a:t>
            </a:r>
            <a:br>
              <a:rPr lang="en-US" sz="2400" b="1" dirty="0">
                <a:latin typeface="Arial" panose="020B0604020202020204" pitchFamily="34" charset="0"/>
                <a:ea typeface="Amazon Ember" panose="020B0603020204020204" pitchFamily="34" charset="0"/>
                <a:cs typeface="Arial" panose="020B0604020202020204" pitchFamily="34" charset="0"/>
              </a:rPr>
            </a:br>
            <a:endParaRPr lang="en-US" sz="1200" dirty="0">
              <a:latin typeface="Arial" panose="020B0604020202020204" pitchFamily="34" charset="0"/>
              <a:ea typeface="Amazon Ember" panose="020B0603020204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2D162F-8389-41AB-B736-D9865CDA3026}"/>
              </a:ext>
            </a:extLst>
          </p:cNvPr>
          <p:cNvSpPr/>
          <p:nvPr/>
        </p:nvSpPr>
        <p:spPr>
          <a:xfrm>
            <a:off x="2283292" y="2618865"/>
            <a:ext cx="1765300" cy="889002"/>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Virtual private cloud (VPC)</a:t>
            </a:r>
          </a:p>
        </p:txBody>
      </p:sp>
      <p:sp>
        <p:nvSpPr>
          <p:cNvPr id="7" name="Rectangle 6">
            <a:extLst>
              <a:ext uri="{FF2B5EF4-FFF2-40B4-BE49-F238E27FC236}">
                <a16:creationId xmlns:a16="http://schemas.microsoft.com/office/drawing/2014/main" id="{EB814FA0-9B88-4C40-BD88-1C4F4D4EE597}"/>
              </a:ext>
            </a:extLst>
          </p:cNvPr>
          <p:cNvSpPr/>
          <p:nvPr/>
        </p:nvSpPr>
        <p:spPr>
          <a:xfrm>
            <a:off x="4215623" y="2618865"/>
            <a:ext cx="1765300" cy="889002"/>
          </a:xfrm>
          <a:prstGeom prst="rect">
            <a:avLst/>
          </a:prstGeom>
          <a:noFill/>
          <a:ln w="15875">
            <a:solidFill>
              <a:srgbClr val="00A4A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Private subnet</a:t>
            </a:r>
          </a:p>
        </p:txBody>
      </p:sp>
      <p:sp>
        <p:nvSpPr>
          <p:cNvPr id="8" name="Rectangle 7">
            <a:extLst>
              <a:ext uri="{FF2B5EF4-FFF2-40B4-BE49-F238E27FC236}">
                <a16:creationId xmlns:a16="http://schemas.microsoft.com/office/drawing/2014/main" id="{646525B9-69F4-418A-9E52-460E821114DE}"/>
              </a:ext>
            </a:extLst>
          </p:cNvPr>
          <p:cNvSpPr/>
          <p:nvPr/>
        </p:nvSpPr>
        <p:spPr>
          <a:xfrm>
            <a:off x="4215623" y="1512745"/>
            <a:ext cx="1765300" cy="889002"/>
          </a:xfrm>
          <a:prstGeom prst="rect">
            <a:avLst/>
          </a:prstGeom>
          <a:noFill/>
          <a:ln w="15875">
            <a:solidFill>
              <a:srgbClr val="00A4A6"/>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Region</a:t>
            </a:r>
          </a:p>
        </p:txBody>
      </p:sp>
      <p:sp>
        <p:nvSpPr>
          <p:cNvPr id="9" name="Rectangle 8">
            <a:extLst>
              <a:ext uri="{FF2B5EF4-FFF2-40B4-BE49-F238E27FC236}">
                <a16:creationId xmlns:a16="http://schemas.microsoft.com/office/drawing/2014/main" id="{91050CB5-59CE-4F14-B33C-DDB681024A75}"/>
              </a:ext>
            </a:extLst>
          </p:cNvPr>
          <p:cNvSpPr/>
          <p:nvPr/>
        </p:nvSpPr>
        <p:spPr>
          <a:xfrm>
            <a:off x="355600" y="1512745"/>
            <a:ext cx="1765300" cy="89058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sp>
        <p:nvSpPr>
          <p:cNvPr id="10" name="Rectangle 9">
            <a:extLst>
              <a:ext uri="{FF2B5EF4-FFF2-40B4-BE49-F238E27FC236}">
                <a16:creationId xmlns:a16="http://schemas.microsoft.com/office/drawing/2014/main" id="{44E13735-032F-436E-BFCF-582F1575A428}"/>
              </a:ext>
            </a:extLst>
          </p:cNvPr>
          <p:cNvSpPr/>
          <p:nvPr/>
        </p:nvSpPr>
        <p:spPr>
          <a:xfrm>
            <a:off x="6147454" y="1512745"/>
            <a:ext cx="1765300" cy="889002"/>
          </a:xfrm>
          <a:prstGeom prst="rect">
            <a:avLst/>
          </a:prstGeom>
          <a:noFill/>
          <a:ln w="15875">
            <a:solidFill>
              <a:srgbClr val="00A4A6"/>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Availability Zone</a:t>
            </a:r>
          </a:p>
        </p:txBody>
      </p:sp>
      <p:sp>
        <p:nvSpPr>
          <p:cNvPr id="11" name="Rectangle 10">
            <a:extLst>
              <a:ext uri="{FF2B5EF4-FFF2-40B4-BE49-F238E27FC236}">
                <a16:creationId xmlns:a16="http://schemas.microsoft.com/office/drawing/2014/main" id="{5F2694E1-1FCB-4BDB-B5F5-0BCF01C8E60C}"/>
              </a:ext>
            </a:extLst>
          </p:cNvPr>
          <p:cNvSpPr/>
          <p:nvPr/>
        </p:nvSpPr>
        <p:spPr>
          <a:xfrm>
            <a:off x="8092141" y="2618865"/>
            <a:ext cx="1765300" cy="889002"/>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Server contents</a:t>
            </a:r>
          </a:p>
        </p:txBody>
      </p:sp>
      <p:sp>
        <p:nvSpPr>
          <p:cNvPr id="12" name="Rectangle 11">
            <a:extLst>
              <a:ext uri="{FF2B5EF4-FFF2-40B4-BE49-F238E27FC236}">
                <a16:creationId xmlns:a16="http://schemas.microsoft.com/office/drawing/2014/main" id="{EEFD472F-D8B0-4C69-A8B1-41F811B0FF5E}"/>
              </a:ext>
            </a:extLst>
          </p:cNvPr>
          <p:cNvSpPr/>
          <p:nvPr/>
        </p:nvSpPr>
        <p:spPr>
          <a:xfrm>
            <a:off x="351632" y="2618865"/>
            <a:ext cx="1765300" cy="890588"/>
          </a:xfrm>
          <a:prstGeom prst="rect">
            <a:avLst/>
          </a:prstGeom>
          <a:noFill/>
          <a:ln w="15875">
            <a:solidFill>
              <a:srgbClr val="ED7100"/>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endParaRPr lang="en-US" sz="1200" dirty="0">
              <a:solidFill>
                <a:schemeClr val="tx1"/>
              </a:solidFill>
              <a:latin typeface="Arial" panose="020B0604020202020204" pitchFamily="34" charset="0"/>
              <a:cs typeface="Arial" panose="020B0604020202020204" pitchFamily="34" charset="0"/>
            </a:endParaRPr>
          </a:p>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Auto Scaling group</a:t>
            </a:r>
          </a:p>
        </p:txBody>
      </p:sp>
      <p:sp>
        <p:nvSpPr>
          <p:cNvPr id="13" name="Rectangle 12">
            <a:extLst>
              <a:ext uri="{FF2B5EF4-FFF2-40B4-BE49-F238E27FC236}">
                <a16:creationId xmlns:a16="http://schemas.microsoft.com/office/drawing/2014/main" id="{C0E82A3A-4E2D-4A9E-BD91-CF5DC361DEF2}"/>
              </a:ext>
            </a:extLst>
          </p:cNvPr>
          <p:cNvSpPr/>
          <p:nvPr/>
        </p:nvSpPr>
        <p:spPr>
          <a:xfrm>
            <a:off x="2283292" y="4826000"/>
            <a:ext cx="1765300" cy="889002"/>
          </a:xfrm>
          <a:prstGeom prst="rect">
            <a:avLst/>
          </a:prstGeom>
          <a:noFill/>
          <a:ln w="15875">
            <a:solidFill>
              <a:srgbClr val="7D8998"/>
            </a:solidFill>
            <a:prstDash val="dash"/>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Generic group</a:t>
            </a:r>
          </a:p>
        </p:txBody>
      </p:sp>
      <p:sp>
        <p:nvSpPr>
          <p:cNvPr id="14" name="Rectangle 13">
            <a:extLst>
              <a:ext uri="{FF2B5EF4-FFF2-40B4-BE49-F238E27FC236}">
                <a16:creationId xmlns:a16="http://schemas.microsoft.com/office/drawing/2014/main" id="{17B32A82-DD0A-4D6F-9D5D-AEE06ABBFEBC}"/>
              </a:ext>
            </a:extLst>
          </p:cNvPr>
          <p:cNvSpPr/>
          <p:nvPr/>
        </p:nvSpPr>
        <p:spPr>
          <a:xfrm>
            <a:off x="10036828" y="2618865"/>
            <a:ext cx="1765300" cy="889002"/>
          </a:xfrm>
          <a:prstGeom prst="rect">
            <a:avLst/>
          </a:prstGeom>
          <a:noFill/>
          <a:ln w="15875">
            <a:solidFill>
              <a:srgbClr val="7D8998"/>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Corporate </a:t>
            </a:r>
          </a:p>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data center</a:t>
            </a:r>
          </a:p>
        </p:txBody>
      </p:sp>
      <p:sp>
        <p:nvSpPr>
          <p:cNvPr id="15" name="Rectangle 14">
            <a:extLst>
              <a:ext uri="{FF2B5EF4-FFF2-40B4-BE49-F238E27FC236}">
                <a16:creationId xmlns:a16="http://schemas.microsoft.com/office/drawing/2014/main" id="{AF0DE7C3-D07C-49B6-BAA3-E7255310EBB5}"/>
              </a:ext>
            </a:extLst>
          </p:cNvPr>
          <p:cNvSpPr/>
          <p:nvPr/>
        </p:nvSpPr>
        <p:spPr>
          <a:xfrm>
            <a:off x="2283292" y="3723399"/>
            <a:ext cx="1765300" cy="888993"/>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Spot Fleet</a:t>
            </a:r>
          </a:p>
        </p:txBody>
      </p:sp>
      <p:sp>
        <p:nvSpPr>
          <p:cNvPr id="16" name="Rectangle 15">
            <a:extLst>
              <a:ext uri="{FF2B5EF4-FFF2-40B4-BE49-F238E27FC236}">
                <a16:creationId xmlns:a16="http://schemas.microsoft.com/office/drawing/2014/main" id="{D0F151D1-69D5-4FD2-ACC1-472E091300A8}"/>
              </a:ext>
            </a:extLst>
          </p:cNvPr>
          <p:cNvSpPr/>
          <p:nvPr/>
        </p:nvSpPr>
        <p:spPr>
          <a:xfrm>
            <a:off x="8092141" y="1512745"/>
            <a:ext cx="1765300" cy="889002"/>
          </a:xfrm>
          <a:prstGeom prst="rect">
            <a:avLst/>
          </a:prstGeom>
          <a:noFill/>
          <a:ln w="15875">
            <a:solidFill>
              <a:srgbClr val="DD344C"/>
            </a:solidFill>
            <a:miter lim="800000"/>
          </a:ln>
        </p:spPr>
        <p:style>
          <a:lnRef idx="2">
            <a:schemeClr val="accent1">
              <a:shade val="50000"/>
            </a:schemeClr>
          </a:lnRef>
          <a:fillRef idx="1">
            <a:schemeClr val="accent1"/>
          </a:fillRef>
          <a:effectRef idx="0">
            <a:schemeClr val="accent1"/>
          </a:effectRef>
          <a:fontRef idx="minor">
            <a:schemeClr val="lt1"/>
          </a:fontRef>
        </p:style>
        <p:txBody>
          <a:bodyPr tIns="91440" anchorCtr="1"/>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Security group</a:t>
            </a:r>
          </a:p>
        </p:txBody>
      </p:sp>
      <p:sp>
        <p:nvSpPr>
          <p:cNvPr id="17" name="Rectangle 16">
            <a:extLst>
              <a:ext uri="{FF2B5EF4-FFF2-40B4-BE49-F238E27FC236}">
                <a16:creationId xmlns:a16="http://schemas.microsoft.com/office/drawing/2014/main" id="{1B59B220-3538-4FCF-9117-93623CDACF09}"/>
              </a:ext>
            </a:extLst>
          </p:cNvPr>
          <p:cNvSpPr/>
          <p:nvPr/>
        </p:nvSpPr>
        <p:spPr>
          <a:xfrm>
            <a:off x="351632" y="3723399"/>
            <a:ext cx="1765300" cy="890588"/>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EC2 instance contents</a:t>
            </a:r>
          </a:p>
        </p:txBody>
      </p:sp>
      <p:sp>
        <p:nvSpPr>
          <p:cNvPr id="18" name="Rectangle 17">
            <a:extLst>
              <a:ext uri="{FF2B5EF4-FFF2-40B4-BE49-F238E27FC236}">
                <a16:creationId xmlns:a16="http://schemas.microsoft.com/office/drawing/2014/main" id="{107BDCF0-55A1-450C-81DB-B7A7E6195457}"/>
              </a:ext>
            </a:extLst>
          </p:cNvPr>
          <p:cNvSpPr/>
          <p:nvPr/>
        </p:nvSpPr>
        <p:spPr>
          <a:xfrm>
            <a:off x="6147454" y="2618865"/>
            <a:ext cx="1765300" cy="889002"/>
          </a:xfrm>
          <a:prstGeom prst="rect">
            <a:avLst/>
          </a:prstGeom>
          <a:noFill/>
          <a:ln w="15875">
            <a:solidFill>
              <a:srgbClr val="7AA116"/>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502920" tIns="91440" bIns="4572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Public subnet</a:t>
            </a:r>
          </a:p>
        </p:txBody>
      </p:sp>
      <p:sp>
        <p:nvSpPr>
          <p:cNvPr id="19" name="Rectangle 18">
            <a:extLst>
              <a:ext uri="{FF2B5EF4-FFF2-40B4-BE49-F238E27FC236}">
                <a16:creationId xmlns:a16="http://schemas.microsoft.com/office/drawing/2014/main" id="{41B54B8C-96D4-4901-8AF0-C88C4961A74A}"/>
              </a:ext>
            </a:extLst>
          </p:cNvPr>
          <p:cNvSpPr/>
          <p:nvPr/>
        </p:nvSpPr>
        <p:spPr>
          <a:xfrm>
            <a:off x="4215623" y="4826000"/>
            <a:ext cx="1765300" cy="889002"/>
          </a:xfrm>
          <a:prstGeom prst="rect">
            <a:avLst/>
          </a:prstGeom>
          <a:noFill/>
          <a:ln w="15875">
            <a:solidFill>
              <a:srgbClr val="7D8998"/>
            </a:solidFill>
            <a:prstDash val="solid"/>
          </a:ln>
        </p:spPr>
        <p:style>
          <a:lnRef idx="2">
            <a:schemeClr val="accent1">
              <a:shade val="50000"/>
            </a:schemeClr>
          </a:lnRef>
          <a:fillRef idx="1">
            <a:schemeClr val="accent1"/>
          </a:fillRef>
          <a:effectRef idx="0">
            <a:schemeClr val="accent1"/>
          </a:effectRef>
          <a:fontRef idx="minor">
            <a:schemeClr val="lt1"/>
          </a:fontRef>
        </p:style>
        <p:txBody>
          <a:bodyPr tIns="91440"/>
          <a:lstStyle/>
          <a:p>
            <a:pPr algn="ct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Generic group</a:t>
            </a:r>
          </a:p>
        </p:txBody>
      </p:sp>
      <p:sp>
        <p:nvSpPr>
          <p:cNvPr id="20" name="Text Placeholder 4">
            <a:extLst>
              <a:ext uri="{FF2B5EF4-FFF2-40B4-BE49-F238E27FC236}">
                <a16:creationId xmlns:a16="http://schemas.microsoft.com/office/drawing/2014/main" id="{72C39B5B-2A7C-45D5-AEE3-D36153D0CACE}"/>
              </a:ext>
            </a:extLst>
          </p:cNvPr>
          <p:cNvSpPr txBox="1">
            <a:spLocks noChangeArrowheads="1"/>
          </p:cNvSpPr>
          <p:nvPr/>
        </p:nvSpPr>
        <p:spPr bwMode="auto">
          <a:xfrm>
            <a:off x="10323513" y="398851"/>
            <a:ext cx="1627187" cy="64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ts val="1000"/>
              </a:spcBef>
              <a:spcAft>
                <a:spcPct val="0"/>
              </a:spcAft>
              <a:buFont typeface="Arial" panose="020B0604020202020204" pitchFamily="34" charset="0"/>
              <a:defRPr sz="2400" kern="1200">
                <a:solidFill>
                  <a:srgbClr val="161E2D"/>
                </a:solidFill>
                <a:latin typeface="Arial" panose="020B0604020202020204" pitchFamily="34" charset="0"/>
                <a:ea typeface="+mn-ea"/>
                <a:cs typeface="Arial" panose="020B0604020202020204" pitchFamily="34" charset="0"/>
              </a:defRPr>
            </a:lvl1pPr>
            <a:lvl2pPr marL="457200" algn="l" rtl="0" eaLnBrk="0" fontAlgn="base" hangingPunct="0">
              <a:lnSpc>
                <a:spcPct val="90000"/>
              </a:lnSpc>
              <a:spcBef>
                <a:spcPts val="500"/>
              </a:spcBef>
              <a:spcAft>
                <a:spcPct val="0"/>
              </a:spcAft>
              <a:buFont typeface="Arial" panose="020B0604020202020204" pitchFamily="34" charset="0"/>
              <a:defRPr sz="2000" kern="1200">
                <a:solidFill>
                  <a:srgbClr val="161E2D"/>
                </a:solidFill>
                <a:latin typeface="Arial" panose="020B0604020202020204" pitchFamily="34" charset="0"/>
                <a:ea typeface="+mn-ea"/>
                <a:cs typeface="Arial" panose="020B0604020202020204" pitchFamily="34" charset="0"/>
              </a:defRPr>
            </a:lvl2pPr>
            <a:lvl3pPr marL="914400" algn="l" rtl="0" eaLnBrk="0" fontAlgn="base" hangingPunct="0">
              <a:lnSpc>
                <a:spcPct val="90000"/>
              </a:lnSpc>
              <a:spcBef>
                <a:spcPts val="500"/>
              </a:spcBef>
              <a:spcAft>
                <a:spcPct val="0"/>
              </a:spcAft>
              <a:buFont typeface="Arial" panose="020B0604020202020204" pitchFamily="34" charset="0"/>
              <a:defRPr kern="1200">
                <a:solidFill>
                  <a:srgbClr val="161E2D"/>
                </a:solidFill>
                <a:latin typeface="Arial" panose="020B0604020202020204" pitchFamily="34" charset="0"/>
                <a:ea typeface="+mn-ea"/>
                <a:cs typeface="Arial" panose="020B0604020202020204" pitchFamily="34" charset="0"/>
              </a:defRPr>
            </a:lvl3pPr>
            <a:lvl4pPr marL="1371600" algn="l" rtl="0" eaLnBrk="0" fontAlgn="base" hangingPunct="0">
              <a:lnSpc>
                <a:spcPct val="90000"/>
              </a:lnSpc>
              <a:spcBef>
                <a:spcPts val="500"/>
              </a:spcBef>
              <a:spcAft>
                <a:spcPct val="0"/>
              </a:spcAft>
              <a:buFont typeface="Arial" panose="020B0604020202020204" pitchFamily="34" charset="0"/>
              <a:defRPr sz="1600" kern="1200">
                <a:solidFill>
                  <a:srgbClr val="161E2D"/>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eaLnBrk="1" hangingPunct="1"/>
            <a:r>
              <a:rPr lang="en-US" altLang="en-US" sz="1800" dirty="0"/>
              <a:t>1/5</a:t>
            </a:r>
          </a:p>
        </p:txBody>
      </p:sp>
      <p:pic>
        <p:nvPicPr>
          <p:cNvPr id="21" name="Graphic 20">
            <a:extLst>
              <a:ext uri="{FF2B5EF4-FFF2-40B4-BE49-F238E27FC236}">
                <a16:creationId xmlns:a16="http://schemas.microsoft.com/office/drawing/2014/main" id="{FB40BCBA-C893-4645-89F7-1822FC54DBF8}"/>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55600" y="1512745"/>
            <a:ext cx="381000" cy="381000"/>
          </a:xfrm>
          <a:prstGeom prst="rect">
            <a:avLst/>
          </a:prstGeom>
        </p:spPr>
      </p:pic>
      <p:pic>
        <p:nvPicPr>
          <p:cNvPr id="22" name="Graphic 21">
            <a:extLst>
              <a:ext uri="{FF2B5EF4-FFF2-40B4-BE49-F238E27FC236}">
                <a16:creationId xmlns:a16="http://schemas.microsoft.com/office/drawing/2014/main" id="{F8761745-8E17-4E06-B195-7ECB88E6FD63}"/>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351632" y="3723399"/>
            <a:ext cx="381000" cy="381000"/>
          </a:xfrm>
          <a:prstGeom prst="rect">
            <a:avLst/>
          </a:prstGeom>
        </p:spPr>
      </p:pic>
      <p:pic>
        <p:nvPicPr>
          <p:cNvPr id="23" name="Graphic 22">
            <a:extLst>
              <a:ext uri="{FF2B5EF4-FFF2-40B4-BE49-F238E27FC236}">
                <a16:creationId xmlns:a16="http://schemas.microsoft.com/office/drawing/2014/main" id="{FF373A09-8E35-4553-AFD4-87F61C794977}"/>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2283292" y="3723399"/>
            <a:ext cx="381000" cy="381000"/>
          </a:xfrm>
          <a:prstGeom prst="rect">
            <a:avLst/>
          </a:prstGeom>
        </p:spPr>
      </p:pic>
      <p:pic>
        <p:nvPicPr>
          <p:cNvPr id="24" name="Graphic 23">
            <a:extLst>
              <a:ext uri="{FF2B5EF4-FFF2-40B4-BE49-F238E27FC236}">
                <a16:creationId xmlns:a16="http://schemas.microsoft.com/office/drawing/2014/main" id="{9FD35591-0895-465E-AF31-4F87C87EC324}"/>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8092141" y="2618865"/>
            <a:ext cx="381000" cy="381000"/>
          </a:xfrm>
          <a:prstGeom prst="rect">
            <a:avLst/>
          </a:prstGeom>
        </p:spPr>
      </p:pic>
      <p:sp>
        <p:nvSpPr>
          <p:cNvPr id="25" name="Rectangle 24">
            <a:extLst>
              <a:ext uri="{FF2B5EF4-FFF2-40B4-BE49-F238E27FC236}">
                <a16:creationId xmlns:a16="http://schemas.microsoft.com/office/drawing/2014/main" id="{9979355C-D004-409C-AF6E-5B1A44688E15}"/>
              </a:ext>
            </a:extLst>
          </p:cNvPr>
          <p:cNvSpPr/>
          <p:nvPr/>
        </p:nvSpPr>
        <p:spPr>
          <a:xfrm>
            <a:off x="10036828" y="3723399"/>
            <a:ext cx="1764665" cy="898201"/>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Elastic Beanstalk container</a:t>
            </a:r>
          </a:p>
        </p:txBody>
      </p:sp>
      <p:sp>
        <p:nvSpPr>
          <p:cNvPr id="26" name="Rectangle 25">
            <a:extLst>
              <a:ext uri="{FF2B5EF4-FFF2-40B4-BE49-F238E27FC236}">
                <a16:creationId xmlns:a16="http://schemas.microsoft.com/office/drawing/2014/main" id="{398978FE-BAF3-488C-98CE-84D0390CD2B8}"/>
              </a:ext>
            </a:extLst>
          </p:cNvPr>
          <p:cNvSpPr/>
          <p:nvPr/>
        </p:nvSpPr>
        <p:spPr>
          <a:xfrm>
            <a:off x="351632" y="4826000"/>
            <a:ext cx="1764665" cy="895343"/>
          </a:xfrm>
          <a:prstGeom prst="rect">
            <a:avLst/>
          </a:prstGeom>
          <a:noFill/>
          <a:ln w="15875">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Step Functions workflow</a:t>
            </a:r>
          </a:p>
        </p:txBody>
      </p:sp>
      <p:pic>
        <p:nvPicPr>
          <p:cNvPr id="27" name="Graphic 26">
            <a:extLst>
              <a:ext uri="{FF2B5EF4-FFF2-40B4-BE49-F238E27FC236}">
                <a16:creationId xmlns:a16="http://schemas.microsoft.com/office/drawing/2014/main" id="{EB6BFDE5-D547-4715-8AF2-BCB14375CB5C}"/>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0036828" y="3723399"/>
            <a:ext cx="381000" cy="381000"/>
          </a:xfrm>
          <a:prstGeom prst="rect">
            <a:avLst/>
          </a:prstGeom>
        </p:spPr>
      </p:pic>
      <p:pic>
        <p:nvPicPr>
          <p:cNvPr id="28" name="Graphic 27">
            <a:extLst>
              <a:ext uri="{FF2B5EF4-FFF2-40B4-BE49-F238E27FC236}">
                <a16:creationId xmlns:a16="http://schemas.microsoft.com/office/drawing/2014/main" id="{40F61064-3951-4394-B2B1-D3D733B13465}"/>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351632" y="4826000"/>
            <a:ext cx="381000" cy="381000"/>
          </a:xfrm>
          <a:prstGeom prst="rect">
            <a:avLst/>
          </a:prstGeom>
        </p:spPr>
      </p:pic>
      <p:sp>
        <p:nvSpPr>
          <p:cNvPr id="29" name="Rectangle 28">
            <a:extLst>
              <a:ext uri="{FF2B5EF4-FFF2-40B4-BE49-F238E27FC236}">
                <a16:creationId xmlns:a16="http://schemas.microsoft.com/office/drawing/2014/main" id="{34DB0542-F2E8-44F3-8C24-A89105C51529}"/>
              </a:ext>
            </a:extLst>
          </p:cNvPr>
          <p:cNvSpPr/>
          <p:nvPr/>
        </p:nvSpPr>
        <p:spPr>
          <a:xfrm>
            <a:off x="8092141" y="3723399"/>
            <a:ext cx="1765300" cy="890588"/>
          </a:xfrm>
          <a:prstGeom prst="rect">
            <a:avLst/>
          </a:prstGeom>
          <a:noFill/>
          <a:ln w="15875">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AWS IoT Greengrass</a:t>
            </a:r>
          </a:p>
        </p:txBody>
      </p:sp>
      <p:sp>
        <p:nvSpPr>
          <p:cNvPr id="30" name="Rectangle 29">
            <a:extLst>
              <a:ext uri="{FF2B5EF4-FFF2-40B4-BE49-F238E27FC236}">
                <a16:creationId xmlns:a16="http://schemas.microsoft.com/office/drawing/2014/main" id="{539EC1AB-197E-46B8-B27D-447DC311FD0F}"/>
              </a:ext>
            </a:extLst>
          </p:cNvPr>
          <p:cNvSpPr/>
          <p:nvPr/>
        </p:nvSpPr>
        <p:spPr>
          <a:xfrm>
            <a:off x="4215623" y="3723399"/>
            <a:ext cx="1764665" cy="895343"/>
          </a:xfrm>
          <a:prstGeom prst="rect">
            <a:avLst/>
          </a:prstGeom>
          <a:noFill/>
          <a:ln w="15875">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account</a:t>
            </a:r>
          </a:p>
        </p:txBody>
      </p:sp>
      <p:pic>
        <p:nvPicPr>
          <p:cNvPr id="31" name="Graphic 30">
            <a:extLst>
              <a:ext uri="{FF2B5EF4-FFF2-40B4-BE49-F238E27FC236}">
                <a16:creationId xmlns:a16="http://schemas.microsoft.com/office/drawing/2014/main" id="{8B63B3CC-93CF-4642-951C-502914C443B4}"/>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4215623" y="3723399"/>
            <a:ext cx="381000" cy="381000"/>
          </a:xfrm>
          <a:prstGeom prst="rect">
            <a:avLst/>
          </a:prstGeom>
        </p:spPr>
      </p:pic>
      <p:pic>
        <p:nvPicPr>
          <p:cNvPr id="32" name="Graphic 31">
            <a:extLst>
              <a:ext uri="{FF2B5EF4-FFF2-40B4-BE49-F238E27FC236}">
                <a16:creationId xmlns:a16="http://schemas.microsoft.com/office/drawing/2014/main" id="{C7BD325F-0A71-474F-8DC6-F6919D55AB4D}"/>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2283292" y="2618865"/>
            <a:ext cx="381000" cy="381000"/>
          </a:xfrm>
          <a:prstGeom prst="rect">
            <a:avLst/>
          </a:prstGeom>
        </p:spPr>
      </p:pic>
      <p:pic>
        <p:nvPicPr>
          <p:cNvPr id="33" name="Graphic 32">
            <a:extLst>
              <a:ext uri="{FF2B5EF4-FFF2-40B4-BE49-F238E27FC236}">
                <a16:creationId xmlns:a16="http://schemas.microsoft.com/office/drawing/2014/main" id="{4C8D2CBD-6CFB-46CF-8809-948956A11E10}"/>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6147454" y="2618865"/>
            <a:ext cx="381000" cy="381000"/>
          </a:xfrm>
          <a:prstGeom prst="rect">
            <a:avLst/>
          </a:prstGeom>
        </p:spPr>
      </p:pic>
      <p:pic>
        <p:nvPicPr>
          <p:cNvPr id="34" name="Graphic 33">
            <a:extLst>
              <a:ext uri="{FF2B5EF4-FFF2-40B4-BE49-F238E27FC236}">
                <a16:creationId xmlns:a16="http://schemas.microsoft.com/office/drawing/2014/main" id="{10C2FD57-867F-431E-A26E-7590F31D3AA2}"/>
              </a:ext>
            </a:extLst>
          </p:cNvPr>
          <p:cNvPicPr>
            <a:picLocks noChangeAspect="1"/>
          </p:cNvPicPr>
          <p:nvPr/>
        </p:nvPicPr>
        <p:blipFill>
          <a:blip>
            <a:extLst>
              <a:ext uri="{96DAC541-7B7A-43D3-8B79-37D633B846F1}">
                <asvg:svgBlip xmlns:asvg="http://schemas.microsoft.com/office/drawing/2016/SVG/main" r:embed="rId11"/>
              </a:ext>
            </a:extLst>
          </a:blip>
          <a:srcRect/>
          <a:stretch/>
        </p:blipFill>
        <p:spPr>
          <a:xfrm>
            <a:off x="4215623" y="2618865"/>
            <a:ext cx="381000" cy="381000"/>
          </a:xfrm>
          <a:prstGeom prst="rect">
            <a:avLst/>
          </a:prstGeom>
        </p:spPr>
      </p:pic>
      <p:pic>
        <p:nvPicPr>
          <p:cNvPr id="35" name="Graphic 34">
            <a:extLst>
              <a:ext uri="{FF2B5EF4-FFF2-40B4-BE49-F238E27FC236}">
                <a16:creationId xmlns:a16="http://schemas.microsoft.com/office/drawing/2014/main" id="{4041A85B-81DA-4DC7-875D-2868A08C81DF}"/>
              </a:ext>
            </a:extLst>
          </p:cNvPr>
          <p:cNvPicPr>
            <a:picLocks noChangeAspect="1"/>
          </p:cNvPicPr>
          <p:nvPr/>
        </p:nvPicPr>
        <p:blipFill>
          <a:blip>
            <a:extLst>
              <a:ext uri="{96DAC541-7B7A-43D3-8B79-37D633B846F1}">
                <asvg:svgBlip xmlns:asvg="http://schemas.microsoft.com/office/drawing/2016/SVG/main" r:embed="rId12"/>
              </a:ext>
            </a:extLst>
          </a:blip>
          <a:srcRect/>
          <a:stretch/>
        </p:blipFill>
        <p:spPr>
          <a:xfrm>
            <a:off x="1043782" y="2618865"/>
            <a:ext cx="381000" cy="381000"/>
          </a:xfrm>
          <a:prstGeom prst="rect">
            <a:avLst/>
          </a:prstGeom>
        </p:spPr>
      </p:pic>
      <p:pic>
        <p:nvPicPr>
          <p:cNvPr id="36" name="Graphic 35">
            <a:extLst>
              <a:ext uri="{FF2B5EF4-FFF2-40B4-BE49-F238E27FC236}">
                <a16:creationId xmlns:a16="http://schemas.microsoft.com/office/drawing/2014/main" id="{9650BC3F-5C68-421C-8634-5FD6C3A1A686}"/>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4215623" y="1512745"/>
            <a:ext cx="381000" cy="381000"/>
          </a:xfrm>
          <a:prstGeom prst="rect">
            <a:avLst/>
          </a:prstGeom>
        </p:spPr>
      </p:pic>
      <p:pic>
        <p:nvPicPr>
          <p:cNvPr id="37" name="Graphic 36">
            <a:extLst>
              <a:ext uri="{FF2B5EF4-FFF2-40B4-BE49-F238E27FC236}">
                <a16:creationId xmlns:a16="http://schemas.microsoft.com/office/drawing/2014/main" id="{24A8E3B6-78E6-473B-BFB6-873887B8D1B5}"/>
              </a:ext>
            </a:extLst>
          </p:cNvPr>
          <p:cNvPicPr>
            <a:picLocks noChangeAspect="1"/>
          </p:cNvPicPr>
          <p:nvPr/>
        </p:nvPicPr>
        <p:blipFill>
          <a:blip>
            <a:extLst>
              <a:ext uri="{96DAC541-7B7A-43D3-8B79-37D633B846F1}">
                <asvg:svgBlip xmlns:asvg="http://schemas.microsoft.com/office/drawing/2016/SVG/main" r:embed="rId14"/>
              </a:ext>
            </a:extLst>
          </a:blip>
          <a:srcRect/>
          <a:stretch/>
        </p:blipFill>
        <p:spPr>
          <a:xfrm>
            <a:off x="10036828" y="2618865"/>
            <a:ext cx="381000" cy="381000"/>
          </a:xfrm>
          <a:prstGeom prst="rect">
            <a:avLst/>
          </a:prstGeom>
        </p:spPr>
      </p:pic>
      <p:pic>
        <p:nvPicPr>
          <p:cNvPr id="38" name="Graphic 37">
            <a:extLst>
              <a:ext uri="{FF2B5EF4-FFF2-40B4-BE49-F238E27FC236}">
                <a16:creationId xmlns:a16="http://schemas.microsoft.com/office/drawing/2014/main" id="{24584D1F-8979-4F89-8B5C-2A2DAF605CDB}"/>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092141" y="3723399"/>
            <a:ext cx="381000" cy="381000"/>
          </a:xfrm>
          <a:prstGeom prst="rect">
            <a:avLst/>
          </a:prstGeom>
        </p:spPr>
      </p:pic>
      <p:sp>
        <p:nvSpPr>
          <p:cNvPr id="39" name="Rectangle 38">
            <a:extLst>
              <a:ext uri="{FF2B5EF4-FFF2-40B4-BE49-F238E27FC236}">
                <a16:creationId xmlns:a16="http://schemas.microsoft.com/office/drawing/2014/main" id="{5C3D0541-0BBA-4DF3-97E4-FC8609310CBC}"/>
              </a:ext>
            </a:extLst>
          </p:cNvPr>
          <p:cNvSpPr/>
          <p:nvPr/>
        </p:nvSpPr>
        <p:spPr>
          <a:xfrm>
            <a:off x="6147454" y="3723399"/>
            <a:ext cx="1765300" cy="890588"/>
          </a:xfrm>
          <a:prstGeom prst="rect">
            <a:avLst/>
          </a:prstGeom>
          <a:noFill/>
          <a:ln w="15875">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AWS IoT Greengrass Deployment</a:t>
            </a:r>
          </a:p>
        </p:txBody>
      </p:sp>
      <p:pic>
        <p:nvPicPr>
          <p:cNvPr id="40" name="Graphic 39">
            <a:extLst>
              <a:ext uri="{FF2B5EF4-FFF2-40B4-BE49-F238E27FC236}">
                <a16:creationId xmlns:a16="http://schemas.microsoft.com/office/drawing/2014/main" id="{9D3CD543-FAE3-4036-834E-4FEF4C4AA486}"/>
              </a:ext>
            </a:extLst>
          </p:cNvPr>
          <p:cNvPicPr>
            <a:picLocks noChangeAspect="1"/>
          </p:cNvPicPr>
          <p:nvPr/>
        </p:nvPicPr>
        <p:blipFill>
          <a:blip>
            <a:extLst>
              <a:ext uri="{96DAC541-7B7A-43D3-8B79-37D633B846F1}">
                <asvg:svgBlip xmlns:asvg="http://schemas.microsoft.com/office/drawing/2016/SVG/main" r:embed="rId16"/>
              </a:ext>
            </a:extLst>
          </a:blip>
          <a:srcRect/>
          <a:stretch/>
        </p:blipFill>
        <p:spPr>
          <a:xfrm>
            <a:off x="6147454" y="3723399"/>
            <a:ext cx="381000" cy="381000"/>
          </a:xfrm>
          <a:prstGeom prst="rect">
            <a:avLst/>
          </a:prstGeom>
        </p:spPr>
      </p:pic>
      <p:sp>
        <p:nvSpPr>
          <p:cNvPr id="41" name="Rectangle 40">
            <a:extLst>
              <a:ext uri="{FF2B5EF4-FFF2-40B4-BE49-F238E27FC236}">
                <a16:creationId xmlns:a16="http://schemas.microsoft.com/office/drawing/2014/main" id="{9D3DCA6C-03AE-4A5A-878B-60503FAA0ABC}"/>
              </a:ext>
            </a:extLst>
          </p:cNvPr>
          <p:cNvSpPr/>
          <p:nvPr/>
        </p:nvSpPr>
        <p:spPr>
          <a:xfrm>
            <a:off x="2283292" y="1512745"/>
            <a:ext cx="1765300" cy="890588"/>
          </a:xfrm>
          <a:prstGeom prst="rect">
            <a:avLst/>
          </a:prstGeom>
          <a:noFill/>
          <a:ln w="158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AWS Cloud</a:t>
            </a:r>
          </a:p>
        </p:txBody>
      </p:sp>
      <p:pic>
        <p:nvPicPr>
          <p:cNvPr id="42" name="Graphic 41">
            <a:extLst>
              <a:ext uri="{FF2B5EF4-FFF2-40B4-BE49-F238E27FC236}">
                <a16:creationId xmlns:a16="http://schemas.microsoft.com/office/drawing/2014/main" id="{FFCBECC5-75B4-4F5B-A098-59D42575A1A9}"/>
              </a:ext>
            </a:extLst>
          </p:cNvPr>
          <p:cNvPicPr>
            <a:picLocks noChangeAspect="1"/>
          </p:cNvPicPr>
          <p:nvPr/>
        </p:nvPicPr>
        <p:blipFill>
          <a:blip>
            <a:extLst>
              <a:ext uri="{96DAC541-7B7A-43D3-8B79-37D633B846F1}">
                <asvg:svgBlip xmlns:asvg="http://schemas.microsoft.com/office/drawing/2016/SVG/main" r:embed="rId17"/>
              </a:ext>
            </a:extLst>
          </a:blip>
          <a:srcRect/>
          <a:stretch/>
        </p:blipFill>
        <p:spPr>
          <a:xfrm>
            <a:off x="2283292" y="1512745"/>
            <a:ext cx="381000" cy="381000"/>
          </a:xfrm>
          <a:prstGeom prst="rect">
            <a:avLst/>
          </a:prstGeom>
        </p:spPr>
      </p:pic>
      <p:sp>
        <p:nvSpPr>
          <p:cNvPr id="43" name="TextBox 42">
            <a:extLst>
              <a:ext uri="{FF2B5EF4-FFF2-40B4-BE49-F238E27FC236}">
                <a16:creationId xmlns:a16="http://schemas.microsoft.com/office/drawing/2014/main" id="{E214EEF4-F56F-408C-8519-CC74C56BB0D1}"/>
              </a:ext>
            </a:extLst>
          </p:cNvPr>
          <p:cNvSpPr txBox="1"/>
          <p:nvPr/>
        </p:nvSpPr>
        <p:spPr>
          <a:xfrm>
            <a:off x="246018" y="1233709"/>
            <a:ext cx="300082" cy="369332"/>
          </a:xfrm>
          <a:prstGeom prst="rect">
            <a:avLst/>
          </a:prstGeom>
          <a:noFill/>
        </p:spPr>
        <p:txBody>
          <a:bodyPr wrap="none" rtlCol="0">
            <a:spAutoFit/>
          </a:bodyPr>
          <a:lstStyle/>
          <a:p>
            <a:r>
              <a:rPr lang="en-US" dirty="0">
                <a:solidFill>
                  <a:schemeClr val="accent3"/>
                </a:solidFill>
              </a:rPr>
              <a:t>*</a:t>
            </a:r>
          </a:p>
        </p:txBody>
      </p:sp>
      <p:sp>
        <p:nvSpPr>
          <p:cNvPr id="44" name="TextBox 43">
            <a:extLst>
              <a:ext uri="{FF2B5EF4-FFF2-40B4-BE49-F238E27FC236}">
                <a16:creationId xmlns:a16="http://schemas.microsoft.com/office/drawing/2014/main" id="{26E94496-7A61-459A-8E24-ABA5FB3B6C0B}"/>
              </a:ext>
            </a:extLst>
          </p:cNvPr>
          <p:cNvSpPr txBox="1"/>
          <p:nvPr/>
        </p:nvSpPr>
        <p:spPr>
          <a:xfrm>
            <a:off x="6285756" y="4754006"/>
            <a:ext cx="5664944" cy="830997"/>
          </a:xfrm>
          <a:prstGeom prst="rect">
            <a:avLst/>
          </a:prstGeom>
          <a:noFill/>
        </p:spPr>
        <p:txBody>
          <a:bodyPr wrap="square" rtlCol="0">
            <a:spAutoFit/>
          </a:bodyPr>
          <a:lstStyle/>
          <a:p>
            <a:r>
              <a:rPr lang="en-US" sz="1200" dirty="0">
                <a:latin typeface="Arial" panose="020B0604020202020204" pitchFamily="34" charset="0"/>
                <a:cs typeface="Arial" panose="020B0604020202020204" pitchFamily="34" charset="0"/>
              </a:rPr>
              <a:t>In certain AWS Regions (e.g., China), AWS does not own the rights for the logo using the letters “AWS.” Per our guidelines, use the group with the AWS logo except in Regions where the AWS logo cannot be used. You may use the group with the cloud icon in those cases.</a:t>
            </a:r>
          </a:p>
        </p:txBody>
      </p:sp>
      <p:sp>
        <p:nvSpPr>
          <p:cNvPr id="45" name="TextBox 44">
            <a:extLst>
              <a:ext uri="{FF2B5EF4-FFF2-40B4-BE49-F238E27FC236}">
                <a16:creationId xmlns:a16="http://schemas.microsoft.com/office/drawing/2014/main" id="{9F7BB947-4D7B-41A2-B3E9-759544433B98}"/>
              </a:ext>
            </a:extLst>
          </p:cNvPr>
          <p:cNvSpPr txBox="1"/>
          <p:nvPr/>
        </p:nvSpPr>
        <p:spPr>
          <a:xfrm>
            <a:off x="6086579" y="4756673"/>
            <a:ext cx="300082" cy="369332"/>
          </a:xfrm>
          <a:prstGeom prst="rect">
            <a:avLst/>
          </a:prstGeom>
          <a:noFill/>
        </p:spPr>
        <p:txBody>
          <a:bodyPr wrap="none" rtlCol="0">
            <a:spAutoFit/>
          </a:bodyPr>
          <a:lstStyle/>
          <a:p>
            <a:r>
              <a:rPr lang="en-US" dirty="0">
                <a:solidFill>
                  <a:schemeClr val="accent3"/>
                </a:solidFill>
              </a:rPr>
              <a:t>*</a:t>
            </a:r>
          </a:p>
        </p:txBody>
      </p:sp>
    </p:spTree>
    <p:extLst>
      <p:ext uri="{BB962C8B-B14F-4D97-AF65-F5344CB8AC3E}">
        <p14:creationId xmlns:p14="http://schemas.microsoft.com/office/powerpoint/2010/main" val="17492696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text box">
            <a:extLst>
              <a:ext uri="{FF2B5EF4-FFF2-40B4-BE49-F238E27FC236}">
                <a16:creationId xmlns:a16="http://schemas.microsoft.com/office/drawing/2014/main" id="{DC8F65F1-94C4-4989-9B6D-0353A9ED3EBF}"/>
              </a:ext>
            </a:extLst>
          </p:cNvPr>
          <p:cNvSpPr txBox="1"/>
          <p:nvPr/>
        </p:nvSpPr>
        <p:spPr>
          <a:xfrm>
            <a:off x="281372" y="158447"/>
            <a:ext cx="11658600" cy="1077218"/>
          </a:xfrm>
          <a:prstGeom prst="rect">
            <a:avLst/>
          </a:prstGeom>
          <a:noFill/>
        </p:spPr>
        <p:txBody>
          <a:bodyPr wrap="square" rtlCol="0">
            <a:spAutoFit/>
          </a:bodyPr>
          <a:lstStyle/>
          <a:p>
            <a:r>
              <a:rPr lang="en-US" sz="2800" b="1" dirty="0">
                <a:latin typeface="Arial" panose="020B0604020202020204" pitchFamily="34" charset="0"/>
                <a:ea typeface="Amazon Ember" panose="020B0603020204020204" pitchFamily="34" charset="0"/>
                <a:cs typeface="Arial" panose="020B0604020202020204" pitchFamily="34" charset="0"/>
              </a:rPr>
              <a:t>Custom Grouping</a:t>
            </a:r>
          </a:p>
          <a:p>
            <a:br>
              <a:rPr lang="en-US" sz="2400" dirty="0">
                <a:latin typeface="Arial" panose="020B0604020202020204" pitchFamily="34" charset="0"/>
                <a:ea typeface="Amazon Ember" panose="020B0603020204020204" pitchFamily="34" charset="0"/>
                <a:cs typeface="Arial" panose="020B0604020202020204" pitchFamily="34" charset="0"/>
              </a:rPr>
            </a:br>
            <a:endParaRPr lang="en-US" sz="1200" dirty="0">
              <a:latin typeface="Arial" panose="020B0604020202020204" pitchFamily="34" charset="0"/>
              <a:ea typeface="Amazon Ember" panose="020B0603020204020204" pitchFamily="34" charset="0"/>
              <a:cs typeface="Arial" panose="020B0604020202020204" pitchFamily="34" charset="0"/>
            </a:endParaRPr>
          </a:p>
        </p:txBody>
      </p:sp>
      <p:sp>
        <p:nvSpPr>
          <p:cNvPr id="46" name="Content Placeholder 10">
            <a:extLst>
              <a:ext uri="{FF2B5EF4-FFF2-40B4-BE49-F238E27FC236}">
                <a16:creationId xmlns:a16="http://schemas.microsoft.com/office/drawing/2014/main" id="{C969B076-0300-4018-A277-83F59F78D6FE}"/>
              </a:ext>
            </a:extLst>
          </p:cNvPr>
          <p:cNvSpPr txBox="1">
            <a:spLocks noChangeArrowheads="1"/>
          </p:cNvSpPr>
          <p:nvPr/>
        </p:nvSpPr>
        <p:spPr>
          <a:xfrm>
            <a:off x="241298" y="1149350"/>
            <a:ext cx="8705931" cy="509429"/>
          </a:xfrm>
          <a:prstGeom prst="rect">
            <a:avLst/>
          </a:prstGeom>
        </p:spPr>
        <p:txBody>
          <a:bodyPr/>
          <a:lstStyle>
            <a:lvl1pPr algn="l" rtl="0" eaLnBrk="0" fontAlgn="base" hangingPunct="0">
              <a:lnSpc>
                <a:spcPct val="90000"/>
              </a:lnSpc>
              <a:spcBef>
                <a:spcPts val="1000"/>
              </a:spcBef>
              <a:spcAft>
                <a:spcPct val="0"/>
              </a:spcAft>
              <a:buFont typeface="Arial" panose="020B0604020202020204" pitchFamily="34" charset="0"/>
              <a:defRPr sz="2400" kern="1200">
                <a:solidFill>
                  <a:srgbClr val="161E2D"/>
                </a:solidFill>
                <a:latin typeface="Arial" panose="020B0604020202020204" pitchFamily="34" charset="0"/>
                <a:ea typeface="+mn-ea"/>
                <a:cs typeface="Arial" panose="020B0604020202020204" pitchFamily="34" charset="0"/>
              </a:defRPr>
            </a:lvl1pPr>
            <a:lvl2pPr marL="457200" algn="l" rtl="0" eaLnBrk="0" fontAlgn="base" hangingPunct="0">
              <a:lnSpc>
                <a:spcPct val="90000"/>
              </a:lnSpc>
              <a:spcBef>
                <a:spcPts val="500"/>
              </a:spcBef>
              <a:spcAft>
                <a:spcPct val="0"/>
              </a:spcAft>
              <a:buFont typeface="Arial" panose="020B0604020202020204" pitchFamily="34" charset="0"/>
              <a:defRPr sz="2000" kern="1200">
                <a:solidFill>
                  <a:srgbClr val="161E2D"/>
                </a:solidFill>
                <a:latin typeface="Arial" panose="020B0604020202020204" pitchFamily="34" charset="0"/>
                <a:ea typeface="+mn-ea"/>
                <a:cs typeface="Arial" panose="020B0604020202020204" pitchFamily="34" charset="0"/>
              </a:defRPr>
            </a:lvl2pPr>
            <a:lvl3pPr marL="914400" algn="l" rtl="0" eaLnBrk="0" fontAlgn="base" hangingPunct="0">
              <a:lnSpc>
                <a:spcPct val="90000"/>
              </a:lnSpc>
              <a:spcBef>
                <a:spcPts val="500"/>
              </a:spcBef>
              <a:spcAft>
                <a:spcPct val="0"/>
              </a:spcAft>
              <a:buFont typeface="Arial" panose="020B0604020202020204" pitchFamily="34" charset="0"/>
              <a:defRPr kern="1200">
                <a:solidFill>
                  <a:srgbClr val="161E2D"/>
                </a:solidFill>
                <a:latin typeface="Arial" panose="020B0604020202020204" pitchFamily="34" charset="0"/>
                <a:ea typeface="+mn-ea"/>
                <a:cs typeface="Arial" panose="020B0604020202020204" pitchFamily="34" charset="0"/>
              </a:defRPr>
            </a:lvl3pPr>
            <a:lvl4pPr marL="1371600" algn="l" rtl="0" eaLnBrk="0" fontAlgn="base" hangingPunct="0">
              <a:lnSpc>
                <a:spcPct val="90000"/>
              </a:lnSpc>
              <a:spcBef>
                <a:spcPts val="500"/>
              </a:spcBef>
              <a:spcAft>
                <a:spcPct val="0"/>
              </a:spcAft>
              <a:buFont typeface="Arial" panose="020B0604020202020204" pitchFamily="34" charset="0"/>
              <a:defRPr sz="1600" kern="1200">
                <a:solidFill>
                  <a:srgbClr val="161E2D"/>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r>
              <a:rPr lang="en-US" altLang="en-US" sz="1800" dirty="0"/>
              <a:t>Select a group with the category color where you find your service to start creating your custom group. </a:t>
            </a:r>
            <a:r>
              <a:rPr lang="en-US" altLang="en-US" sz="1800" b="1" dirty="0"/>
              <a:t>All groups are fully editable.</a:t>
            </a:r>
          </a:p>
        </p:txBody>
      </p:sp>
      <p:sp>
        <p:nvSpPr>
          <p:cNvPr id="47" name="Rectangle 46">
            <a:extLst>
              <a:ext uri="{FF2B5EF4-FFF2-40B4-BE49-F238E27FC236}">
                <a16:creationId xmlns:a16="http://schemas.microsoft.com/office/drawing/2014/main" id="{F594CC68-90BE-4333-B234-EC3A7FFD95FB}"/>
              </a:ext>
            </a:extLst>
          </p:cNvPr>
          <p:cNvSpPr/>
          <p:nvPr/>
        </p:nvSpPr>
        <p:spPr>
          <a:xfrm>
            <a:off x="348285" y="3788621"/>
            <a:ext cx="1772616" cy="895343"/>
          </a:xfrm>
          <a:prstGeom prst="rect">
            <a:avLst/>
          </a:prstGeom>
          <a:noFill/>
          <a:ln w="15875">
            <a:solidFill>
              <a:srgbClr val="ED7100"/>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Edit group name</a:t>
            </a:r>
          </a:p>
        </p:txBody>
      </p:sp>
      <p:pic>
        <p:nvPicPr>
          <p:cNvPr id="48" name="Graphic 47">
            <a:extLst>
              <a:ext uri="{FF2B5EF4-FFF2-40B4-BE49-F238E27FC236}">
                <a16:creationId xmlns:a16="http://schemas.microsoft.com/office/drawing/2014/main" id="{E6F19FBF-6735-4938-84CA-113869E724DA}"/>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348284" y="3788621"/>
            <a:ext cx="381000" cy="381000"/>
          </a:xfrm>
          <a:prstGeom prst="rect">
            <a:avLst/>
          </a:prstGeom>
        </p:spPr>
      </p:pic>
      <p:sp>
        <p:nvSpPr>
          <p:cNvPr id="49" name="Rectangle 48">
            <a:extLst>
              <a:ext uri="{FF2B5EF4-FFF2-40B4-BE49-F238E27FC236}">
                <a16:creationId xmlns:a16="http://schemas.microsoft.com/office/drawing/2014/main" id="{0DEB0115-3C3B-41A8-831D-1A703A417A17}"/>
              </a:ext>
            </a:extLst>
          </p:cNvPr>
          <p:cNvSpPr/>
          <p:nvPr/>
        </p:nvSpPr>
        <p:spPr>
          <a:xfrm>
            <a:off x="4248794" y="1993573"/>
            <a:ext cx="1772615" cy="890588"/>
          </a:xfrm>
          <a:prstGeom prst="rect">
            <a:avLst/>
          </a:prstGeom>
          <a:noFill/>
          <a:ln w="15875">
            <a:solidFill>
              <a:srgbClr val="7AA116"/>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Edit group name</a:t>
            </a:r>
          </a:p>
        </p:txBody>
      </p:sp>
      <p:pic>
        <p:nvPicPr>
          <p:cNvPr id="50" name="Graphic 49">
            <a:extLst>
              <a:ext uri="{FF2B5EF4-FFF2-40B4-BE49-F238E27FC236}">
                <a16:creationId xmlns:a16="http://schemas.microsoft.com/office/drawing/2014/main" id="{97320644-A1DB-45C6-B175-33173995EFA8}"/>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248794" y="1991999"/>
            <a:ext cx="381000" cy="381000"/>
          </a:xfrm>
          <a:prstGeom prst="rect">
            <a:avLst/>
          </a:prstGeom>
        </p:spPr>
      </p:pic>
      <p:sp>
        <p:nvSpPr>
          <p:cNvPr id="51" name="Rectangle 50">
            <a:extLst>
              <a:ext uri="{FF2B5EF4-FFF2-40B4-BE49-F238E27FC236}">
                <a16:creationId xmlns:a16="http://schemas.microsoft.com/office/drawing/2014/main" id="{582C85B8-B8F5-46A6-AC8F-D7DCA315AA9D}"/>
              </a:ext>
            </a:extLst>
          </p:cNvPr>
          <p:cNvSpPr/>
          <p:nvPr/>
        </p:nvSpPr>
        <p:spPr>
          <a:xfrm>
            <a:off x="4248794" y="3788622"/>
            <a:ext cx="1772615" cy="895342"/>
          </a:xfrm>
          <a:prstGeom prst="rect">
            <a:avLst/>
          </a:prstGeom>
          <a:noFill/>
          <a:ln w="15875">
            <a:solidFill>
              <a:srgbClr val="C925D1"/>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Edit group name</a:t>
            </a:r>
          </a:p>
        </p:txBody>
      </p:sp>
      <p:sp>
        <p:nvSpPr>
          <p:cNvPr id="52" name="Rectangle 51">
            <a:extLst>
              <a:ext uri="{FF2B5EF4-FFF2-40B4-BE49-F238E27FC236}">
                <a16:creationId xmlns:a16="http://schemas.microsoft.com/office/drawing/2014/main" id="{954C86DB-F77C-4AE9-AE59-5784EB91266D}"/>
              </a:ext>
            </a:extLst>
          </p:cNvPr>
          <p:cNvSpPr/>
          <p:nvPr/>
        </p:nvSpPr>
        <p:spPr>
          <a:xfrm>
            <a:off x="2298540" y="3791479"/>
            <a:ext cx="1772615" cy="895343"/>
          </a:xfrm>
          <a:prstGeom prst="rect">
            <a:avLst/>
          </a:prstGeom>
          <a:noFill/>
          <a:ln w="15875">
            <a:solidFill>
              <a:srgbClr val="DD344C"/>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Edit group name</a:t>
            </a:r>
          </a:p>
        </p:txBody>
      </p:sp>
      <p:pic>
        <p:nvPicPr>
          <p:cNvPr id="53" name="Graphic 52">
            <a:extLst>
              <a:ext uri="{FF2B5EF4-FFF2-40B4-BE49-F238E27FC236}">
                <a16:creationId xmlns:a16="http://schemas.microsoft.com/office/drawing/2014/main" id="{03C0AB31-3A40-4B15-9587-5DF05CF8CC4C}"/>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4248794" y="3788621"/>
            <a:ext cx="381000" cy="381000"/>
          </a:xfrm>
          <a:prstGeom prst="rect">
            <a:avLst/>
          </a:prstGeom>
        </p:spPr>
      </p:pic>
      <p:pic>
        <p:nvPicPr>
          <p:cNvPr id="54" name="Graphic 53">
            <a:extLst>
              <a:ext uri="{FF2B5EF4-FFF2-40B4-BE49-F238E27FC236}">
                <a16:creationId xmlns:a16="http://schemas.microsoft.com/office/drawing/2014/main" id="{A6F83D82-CEB5-4A51-815E-C9C650154B41}"/>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2298540" y="3791479"/>
            <a:ext cx="381000" cy="381000"/>
          </a:xfrm>
          <a:prstGeom prst="rect">
            <a:avLst/>
          </a:prstGeom>
        </p:spPr>
      </p:pic>
      <p:sp>
        <p:nvSpPr>
          <p:cNvPr id="55" name="Rectangle 54">
            <a:extLst>
              <a:ext uri="{FF2B5EF4-FFF2-40B4-BE49-F238E27FC236}">
                <a16:creationId xmlns:a16="http://schemas.microsoft.com/office/drawing/2014/main" id="{A4A6054D-B61A-4CC8-822F-8D01D7471171}"/>
              </a:ext>
            </a:extLst>
          </p:cNvPr>
          <p:cNvSpPr/>
          <p:nvPr/>
        </p:nvSpPr>
        <p:spPr>
          <a:xfrm>
            <a:off x="6199048" y="1993573"/>
            <a:ext cx="1772615" cy="890588"/>
          </a:xfrm>
          <a:prstGeom prst="rect">
            <a:avLst/>
          </a:prstGeom>
          <a:noFill/>
          <a:ln w="15875">
            <a:solidFill>
              <a:srgbClr val="01A88D"/>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ln w="0"/>
                <a:solidFill>
                  <a:schemeClr val="tx1"/>
                </a:solidFill>
                <a:latin typeface="Arial" panose="020B0604020202020204" pitchFamily="34" charset="0"/>
                <a:cs typeface="Arial" panose="020B0604020202020204" pitchFamily="34" charset="0"/>
              </a:rPr>
              <a:t>Edit group name</a:t>
            </a:r>
          </a:p>
        </p:txBody>
      </p:sp>
      <p:pic>
        <p:nvPicPr>
          <p:cNvPr id="56" name="Graphic 55">
            <a:extLst>
              <a:ext uri="{FF2B5EF4-FFF2-40B4-BE49-F238E27FC236}">
                <a16:creationId xmlns:a16="http://schemas.microsoft.com/office/drawing/2014/main" id="{CEC0BA56-82A3-4C70-93E4-8BF173E96955}"/>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6199049" y="1991999"/>
            <a:ext cx="381000" cy="381000"/>
          </a:xfrm>
          <a:prstGeom prst="rect">
            <a:avLst/>
          </a:prstGeom>
        </p:spPr>
      </p:pic>
      <p:sp>
        <p:nvSpPr>
          <p:cNvPr id="57" name="Rectangle 56">
            <a:extLst>
              <a:ext uri="{FF2B5EF4-FFF2-40B4-BE49-F238E27FC236}">
                <a16:creationId xmlns:a16="http://schemas.microsoft.com/office/drawing/2014/main" id="{DA21F6FD-2386-4AB3-B0AE-F8FB29E7991A}"/>
              </a:ext>
            </a:extLst>
          </p:cNvPr>
          <p:cNvSpPr/>
          <p:nvPr/>
        </p:nvSpPr>
        <p:spPr>
          <a:xfrm>
            <a:off x="2298540" y="1994762"/>
            <a:ext cx="1772615" cy="895343"/>
          </a:xfrm>
          <a:prstGeom prst="rect">
            <a:avLst/>
          </a:prstGeom>
          <a:noFill/>
          <a:ln w="15875">
            <a:solidFill>
              <a:srgbClr val="E7157B"/>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Edit group name</a:t>
            </a:r>
          </a:p>
        </p:txBody>
      </p:sp>
      <p:pic>
        <p:nvPicPr>
          <p:cNvPr id="58" name="Graphic 57">
            <a:extLst>
              <a:ext uri="{FF2B5EF4-FFF2-40B4-BE49-F238E27FC236}">
                <a16:creationId xmlns:a16="http://schemas.microsoft.com/office/drawing/2014/main" id="{DA2E80FF-8CC6-436E-8698-40FA4AF1D65A}"/>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2298541" y="1994762"/>
            <a:ext cx="381000" cy="381000"/>
          </a:xfrm>
          <a:prstGeom prst="rect">
            <a:avLst/>
          </a:prstGeom>
        </p:spPr>
      </p:pic>
      <p:sp>
        <p:nvSpPr>
          <p:cNvPr id="59" name="TextBox 58">
            <a:extLst>
              <a:ext uri="{FF2B5EF4-FFF2-40B4-BE49-F238E27FC236}">
                <a16:creationId xmlns:a16="http://schemas.microsoft.com/office/drawing/2014/main" id="{5ED8228C-676F-43F3-B4B5-7BDF62794882}"/>
              </a:ext>
            </a:extLst>
          </p:cNvPr>
          <p:cNvSpPr txBox="1"/>
          <p:nvPr/>
        </p:nvSpPr>
        <p:spPr>
          <a:xfrm>
            <a:off x="241301" y="2921855"/>
            <a:ext cx="1879600" cy="707886"/>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Analytics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Games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Networking &amp; Content Delivery</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Serverless</a:t>
            </a:r>
          </a:p>
        </p:txBody>
      </p:sp>
      <p:sp>
        <p:nvSpPr>
          <p:cNvPr id="60" name="Rectangle 59">
            <a:extLst>
              <a:ext uri="{FF2B5EF4-FFF2-40B4-BE49-F238E27FC236}">
                <a16:creationId xmlns:a16="http://schemas.microsoft.com/office/drawing/2014/main" id="{B2B2AFF6-8291-434F-B5A0-DCCE5109D30D}"/>
              </a:ext>
            </a:extLst>
          </p:cNvPr>
          <p:cNvSpPr/>
          <p:nvPr/>
        </p:nvSpPr>
        <p:spPr>
          <a:xfrm>
            <a:off x="348285" y="1994857"/>
            <a:ext cx="1772615" cy="895343"/>
          </a:xfrm>
          <a:prstGeom prst="rect">
            <a:avLst/>
          </a:prstGeom>
          <a:noFill/>
          <a:ln w="15875">
            <a:solidFill>
              <a:srgbClr val="8C4FFF"/>
            </a:solidFill>
          </a:ln>
        </p:spPr>
        <p:style>
          <a:lnRef idx="2">
            <a:schemeClr val="accent1">
              <a:shade val="50000"/>
            </a:schemeClr>
          </a:lnRef>
          <a:fillRef idx="1">
            <a:schemeClr val="accent1"/>
          </a:fillRef>
          <a:effectRef idx="0">
            <a:schemeClr val="accent1"/>
          </a:effectRef>
          <a:fontRef idx="minor">
            <a:schemeClr val="lt1"/>
          </a:fontRef>
        </p:style>
        <p:txBody>
          <a:bodyPr lIns="502920" tIns="91440"/>
          <a:lstStyle/>
          <a:p>
            <a:pPr eaLnBrk="1" fontAlgn="auto" hangingPunct="1">
              <a:spcBef>
                <a:spcPts val="0"/>
              </a:spcBef>
              <a:spcAft>
                <a:spcPts val="0"/>
              </a:spcAft>
              <a:defRPr/>
            </a:pPr>
            <a:r>
              <a:rPr lang="en-US" sz="1200" dirty="0">
                <a:solidFill>
                  <a:schemeClr val="tx1"/>
                </a:solidFill>
                <a:latin typeface="Arial" panose="020B0604020202020204" pitchFamily="34" charset="0"/>
                <a:cs typeface="Arial" panose="020B0604020202020204" pitchFamily="34" charset="0"/>
              </a:rPr>
              <a:t>Edit group name</a:t>
            </a:r>
          </a:p>
        </p:txBody>
      </p:sp>
      <p:pic>
        <p:nvPicPr>
          <p:cNvPr id="61" name="Graphic 60">
            <a:extLst>
              <a:ext uri="{FF2B5EF4-FFF2-40B4-BE49-F238E27FC236}">
                <a16:creationId xmlns:a16="http://schemas.microsoft.com/office/drawing/2014/main" id="{8069A438-487E-44D3-9684-A0BAC417BADF}"/>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348284" y="1991999"/>
            <a:ext cx="381000" cy="381000"/>
          </a:xfrm>
          <a:prstGeom prst="rect">
            <a:avLst/>
          </a:prstGeom>
        </p:spPr>
      </p:pic>
      <p:sp>
        <p:nvSpPr>
          <p:cNvPr id="62" name="TextBox 61">
            <a:extLst>
              <a:ext uri="{FF2B5EF4-FFF2-40B4-BE49-F238E27FC236}">
                <a16:creationId xmlns:a16="http://schemas.microsoft.com/office/drawing/2014/main" id="{0720C7A6-6651-4AD8-A40A-A92D22A2778A}"/>
              </a:ext>
            </a:extLst>
          </p:cNvPr>
          <p:cNvSpPr txBox="1"/>
          <p:nvPr/>
        </p:nvSpPr>
        <p:spPr>
          <a:xfrm>
            <a:off x="2209502" y="2921855"/>
            <a:ext cx="1861653" cy="389337"/>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Application Integration</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Management &amp; Governance</a:t>
            </a:r>
          </a:p>
        </p:txBody>
      </p:sp>
      <p:sp>
        <p:nvSpPr>
          <p:cNvPr id="63" name="TextBox 62">
            <a:extLst>
              <a:ext uri="{FF2B5EF4-FFF2-40B4-BE49-F238E27FC236}">
                <a16:creationId xmlns:a16="http://schemas.microsoft.com/office/drawing/2014/main" id="{310BD15B-5DBD-45A5-958D-AF1C88EEE737}"/>
              </a:ext>
            </a:extLst>
          </p:cNvPr>
          <p:cNvSpPr txBox="1"/>
          <p:nvPr/>
        </p:nvSpPr>
        <p:spPr>
          <a:xfrm>
            <a:off x="4159756" y="2921855"/>
            <a:ext cx="1861653" cy="553998"/>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Cloud Financial Management</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Internet of Things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Storage</a:t>
            </a:r>
          </a:p>
        </p:txBody>
      </p:sp>
      <p:sp>
        <p:nvSpPr>
          <p:cNvPr id="64" name="TextBox 63">
            <a:extLst>
              <a:ext uri="{FF2B5EF4-FFF2-40B4-BE49-F238E27FC236}">
                <a16:creationId xmlns:a16="http://schemas.microsoft.com/office/drawing/2014/main" id="{ADEB193D-0193-4CCE-83D1-27148E02A55C}"/>
              </a:ext>
            </a:extLst>
          </p:cNvPr>
          <p:cNvSpPr txBox="1"/>
          <p:nvPr/>
        </p:nvSpPr>
        <p:spPr>
          <a:xfrm>
            <a:off x="6110010" y="2921855"/>
            <a:ext cx="1861653" cy="553998"/>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End User Computing</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Machine Learning</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Migration &amp; Transfer</a:t>
            </a:r>
          </a:p>
        </p:txBody>
      </p:sp>
      <p:sp>
        <p:nvSpPr>
          <p:cNvPr id="65" name="TextBox 64">
            <a:extLst>
              <a:ext uri="{FF2B5EF4-FFF2-40B4-BE49-F238E27FC236}">
                <a16:creationId xmlns:a16="http://schemas.microsoft.com/office/drawing/2014/main" id="{0DB9524B-5985-4823-B579-32BF86C952EC}"/>
              </a:ext>
            </a:extLst>
          </p:cNvPr>
          <p:cNvSpPr txBox="1"/>
          <p:nvPr/>
        </p:nvSpPr>
        <p:spPr>
          <a:xfrm>
            <a:off x="241301" y="4739085"/>
            <a:ext cx="1879600" cy="861774"/>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Blockchain</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Compute</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Containers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Media Services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Quantum Technologies</a:t>
            </a:r>
          </a:p>
        </p:txBody>
      </p:sp>
      <p:sp>
        <p:nvSpPr>
          <p:cNvPr id="66" name="TextBox 65">
            <a:extLst>
              <a:ext uri="{FF2B5EF4-FFF2-40B4-BE49-F238E27FC236}">
                <a16:creationId xmlns:a16="http://schemas.microsoft.com/office/drawing/2014/main" id="{5665939D-F7E1-4380-9B77-92561CF86D97}"/>
              </a:ext>
            </a:extLst>
          </p:cNvPr>
          <p:cNvSpPr txBox="1"/>
          <p:nvPr/>
        </p:nvSpPr>
        <p:spPr>
          <a:xfrm>
            <a:off x="2209502" y="4739085"/>
            <a:ext cx="1861653" cy="861774"/>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Business Applications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Contact Center</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Front-End Web &amp; Mobile</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Robotics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Security, Identity &amp; Compliance</a:t>
            </a:r>
          </a:p>
        </p:txBody>
      </p:sp>
      <p:sp>
        <p:nvSpPr>
          <p:cNvPr id="67" name="TextBox 66">
            <a:extLst>
              <a:ext uri="{FF2B5EF4-FFF2-40B4-BE49-F238E27FC236}">
                <a16:creationId xmlns:a16="http://schemas.microsoft.com/office/drawing/2014/main" id="{FAB37755-D501-4493-A03A-22062323D5E2}"/>
              </a:ext>
            </a:extLst>
          </p:cNvPr>
          <p:cNvSpPr txBox="1"/>
          <p:nvPr/>
        </p:nvSpPr>
        <p:spPr>
          <a:xfrm>
            <a:off x="4159756" y="4739085"/>
            <a:ext cx="1861653" cy="707886"/>
          </a:xfrm>
          <a:prstGeom prst="rect">
            <a:avLst/>
          </a:prstGeom>
          <a:noFill/>
        </p:spPr>
        <p:txBody>
          <a:bodyPr wrap="square" rtlCol="0">
            <a:spAutoFit/>
          </a:bodyPr>
          <a:lstStyle/>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Customer Enablement</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Database</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Developer Tools</a:t>
            </a:r>
          </a:p>
          <a:p>
            <a:pPr>
              <a:lnSpc>
                <a:spcPts val="1200"/>
              </a:lnSpc>
              <a:spcBef>
                <a:spcPts val="0"/>
              </a:spcBef>
            </a:pPr>
            <a:r>
              <a:rPr lang="en-US" sz="950" dirty="0">
                <a:solidFill>
                  <a:srgbClr val="161E2D"/>
                </a:solidFill>
                <a:latin typeface="Arial" panose="020B0604020202020204" pitchFamily="34" charset="0"/>
                <a:cs typeface="Arial" panose="020B0604020202020204" pitchFamily="34" charset="0"/>
              </a:rPr>
              <a:t>Satellite</a:t>
            </a:r>
          </a:p>
        </p:txBody>
      </p:sp>
      <p:sp>
        <p:nvSpPr>
          <p:cNvPr id="68" name="Content Placeholder 4">
            <a:extLst>
              <a:ext uri="{FF2B5EF4-FFF2-40B4-BE49-F238E27FC236}">
                <a16:creationId xmlns:a16="http://schemas.microsoft.com/office/drawing/2014/main" id="{EC23526B-87F9-469B-8F41-FCE17F16A3B5}"/>
              </a:ext>
            </a:extLst>
          </p:cNvPr>
          <p:cNvSpPr txBox="1">
            <a:spLocks noChangeArrowheads="1"/>
          </p:cNvSpPr>
          <p:nvPr/>
        </p:nvSpPr>
        <p:spPr bwMode="auto">
          <a:xfrm>
            <a:off x="8149302" y="1953055"/>
            <a:ext cx="3703384" cy="4010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l" rtl="0" eaLnBrk="0" fontAlgn="base" hangingPunct="0">
              <a:lnSpc>
                <a:spcPct val="90000"/>
              </a:lnSpc>
              <a:spcBef>
                <a:spcPts val="1000"/>
              </a:spcBef>
              <a:spcAft>
                <a:spcPct val="0"/>
              </a:spcAft>
              <a:buFont typeface="Arial" panose="020B0604020202020204" pitchFamily="34" charset="0"/>
              <a:defRPr sz="2400" kern="1200">
                <a:solidFill>
                  <a:srgbClr val="161E2D"/>
                </a:solidFill>
                <a:latin typeface="Arial" panose="020B0604020202020204" pitchFamily="34" charset="0"/>
                <a:ea typeface="+mn-ea"/>
                <a:cs typeface="Arial" panose="020B0604020202020204" pitchFamily="34" charset="0"/>
              </a:defRPr>
            </a:lvl1pPr>
            <a:lvl2pPr marL="457200" algn="l" rtl="0" eaLnBrk="0" fontAlgn="base" hangingPunct="0">
              <a:lnSpc>
                <a:spcPct val="90000"/>
              </a:lnSpc>
              <a:spcBef>
                <a:spcPts val="500"/>
              </a:spcBef>
              <a:spcAft>
                <a:spcPct val="0"/>
              </a:spcAft>
              <a:buFont typeface="Arial" panose="020B0604020202020204" pitchFamily="34" charset="0"/>
              <a:defRPr sz="2000" kern="1200">
                <a:solidFill>
                  <a:srgbClr val="161E2D"/>
                </a:solidFill>
                <a:latin typeface="Arial" panose="020B0604020202020204" pitchFamily="34" charset="0"/>
                <a:ea typeface="+mn-ea"/>
                <a:cs typeface="Arial" panose="020B0604020202020204" pitchFamily="34" charset="0"/>
              </a:defRPr>
            </a:lvl2pPr>
            <a:lvl3pPr marL="914400" algn="l" rtl="0" eaLnBrk="0" fontAlgn="base" hangingPunct="0">
              <a:lnSpc>
                <a:spcPct val="90000"/>
              </a:lnSpc>
              <a:spcBef>
                <a:spcPts val="500"/>
              </a:spcBef>
              <a:spcAft>
                <a:spcPct val="0"/>
              </a:spcAft>
              <a:buFont typeface="Arial" panose="020B0604020202020204" pitchFamily="34" charset="0"/>
              <a:defRPr kern="1200">
                <a:solidFill>
                  <a:srgbClr val="161E2D"/>
                </a:solidFill>
                <a:latin typeface="Arial" panose="020B0604020202020204" pitchFamily="34" charset="0"/>
                <a:ea typeface="+mn-ea"/>
                <a:cs typeface="Arial" panose="020B0604020202020204" pitchFamily="34" charset="0"/>
              </a:defRPr>
            </a:lvl3pPr>
            <a:lvl4pPr marL="1371600" algn="l" rtl="0" eaLnBrk="0" fontAlgn="base" hangingPunct="0">
              <a:lnSpc>
                <a:spcPct val="90000"/>
              </a:lnSpc>
              <a:spcBef>
                <a:spcPts val="500"/>
              </a:spcBef>
              <a:spcAft>
                <a:spcPct val="0"/>
              </a:spcAft>
              <a:buFont typeface="Arial" panose="020B0604020202020204" pitchFamily="34" charset="0"/>
              <a:defRPr sz="1600" kern="1200">
                <a:solidFill>
                  <a:srgbClr val="161E2D"/>
                </a:solidFill>
                <a:latin typeface="Arial" panose="020B0604020202020204" pitchFamily="34" charset="0"/>
                <a:ea typeface="+mn-ea"/>
                <a:cs typeface="Arial" panose="020B060402020202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82880" indent="-182880" eaLnBrk="1" hangingPunct="1">
              <a:lnSpc>
                <a:spcPct val="100000"/>
              </a:lnSpc>
              <a:buFont typeface="Calibri Light" panose="020F0302020204030204" pitchFamily="34" charset="0"/>
              <a:buAutoNum type="arabicPeriod"/>
            </a:pPr>
            <a:r>
              <a:rPr lang="en-US" altLang="en-US" sz="1100" b="1" dirty="0"/>
              <a:t>Download the asset package.</a:t>
            </a:r>
            <a:br>
              <a:rPr lang="en-US" altLang="en-US" sz="1100" dirty="0"/>
            </a:br>
            <a:r>
              <a:rPr lang="en-US" altLang="en-US" sz="1100" dirty="0"/>
              <a:t>Go to the </a:t>
            </a:r>
            <a:r>
              <a:rPr lang="en-US" altLang="en-US" sz="1100" dirty="0">
                <a:hlinkClick r:id="rId9"/>
              </a:rPr>
              <a:t>AWS Architecture Icons</a:t>
            </a:r>
            <a:r>
              <a:rPr lang="en-US" altLang="en-US" sz="1100" dirty="0"/>
              <a:t> webpage and download the asset package to your desktop.</a:t>
            </a:r>
          </a:p>
          <a:p>
            <a:pPr marL="182880" indent="-182880" eaLnBrk="1" hangingPunct="1">
              <a:lnSpc>
                <a:spcPct val="100000"/>
              </a:lnSpc>
              <a:buFont typeface="Calibri Light" panose="020F0302020204030204" pitchFamily="34" charset="0"/>
              <a:buAutoNum type="arabicPeriod"/>
            </a:pPr>
            <a:r>
              <a:rPr lang="en-US" altLang="en-US" sz="1100" b="1" dirty="0"/>
              <a:t>Begin customizing. </a:t>
            </a:r>
            <a:br>
              <a:rPr lang="en-US" altLang="en-US" sz="1100" b="1" dirty="0"/>
            </a:br>
            <a:r>
              <a:rPr lang="en-US" altLang="en-US" sz="1100" dirty="0"/>
              <a:t>In your chosen group, select the square icon and choose </a:t>
            </a:r>
            <a:r>
              <a:rPr lang="en-US" altLang="en-US" sz="1100" b="1" dirty="0"/>
              <a:t>Change Graphic &gt; From a File.</a:t>
            </a:r>
            <a:br>
              <a:rPr lang="en-US" altLang="en-US" sz="1100" b="1" dirty="0"/>
            </a:br>
            <a:br>
              <a:rPr lang="en-US" altLang="en-US" sz="1100" b="1" dirty="0"/>
            </a:br>
            <a:br>
              <a:rPr lang="en-US" altLang="en-US" sz="1100" b="1" dirty="0"/>
            </a:br>
            <a:br>
              <a:rPr lang="en-US" altLang="en-US" sz="1100" b="1" dirty="0"/>
            </a:br>
            <a:br>
              <a:rPr lang="en-US" altLang="en-US" sz="1100" b="1" dirty="0"/>
            </a:br>
            <a:endParaRPr lang="en-US" altLang="en-US" sz="1100" b="1" dirty="0"/>
          </a:p>
          <a:p>
            <a:pPr marL="182880" indent="-182880" eaLnBrk="1" hangingPunct="1">
              <a:lnSpc>
                <a:spcPct val="100000"/>
              </a:lnSpc>
              <a:buFont typeface="Calibri Light" panose="020F0302020204030204" pitchFamily="34" charset="0"/>
              <a:buAutoNum type="arabicPeriod"/>
            </a:pPr>
            <a:r>
              <a:rPr lang="en-US" altLang="en-US" sz="1100" b="1" dirty="0"/>
              <a:t>Find the service icon.</a:t>
            </a:r>
            <a:br>
              <a:rPr lang="en-US" altLang="en-US" sz="1100" dirty="0"/>
            </a:br>
            <a:r>
              <a:rPr lang="en-US" altLang="en-US" sz="1100" dirty="0">
                <a:solidFill>
                  <a:schemeClr val="tx1"/>
                </a:solidFill>
              </a:rPr>
              <a:t>Navigate to the architecture service icon </a:t>
            </a:r>
            <a:r>
              <a:rPr lang="en-US" altLang="en-US" sz="1100" b="1" dirty="0">
                <a:solidFill>
                  <a:schemeClr val="tx1"/>
                </a:solidFill>
              </a:rPr>
              <a:t>DELIVERABLES</a:t>
            </a:r>
            <a:r>
              <a:rPr lang="en-US" altLang="en-US" sz="1100" dirty="0">
                <a:solidFill>
                  <a:schemeClr val="tx1"/>
                </a:solidFill>
              </a:rPr>
              <a:t> folder in the asset package. </a:t>
            </a:r>
            <a:br>
              <a:rPr lang="en-US" altLang="en-US" sz="1100" dirty="0">
                <a:solidFill>
                  <a:schemeClr val="tx1"/>
                </a:solidFill>
              </a:rPr>
            </a:br>
            <a:r>
              <a:rPr lang="en-US" altLang="en-US" sz="1100" dirty="0">
                <a:solidFill>
                  <a:schemeClr val="tx1"/>
                </a:solidFill>
              </a:rPr>
              <a:t>Then find the appropriate </a:t>
            </a:r>
            <a:r>
              <a:rPr lang="en-US" altLang="en-US" sz="1100" b="1" dirty="0">
                <a:solidFill>
                  <a:schemeClr val="tx1"/>
                </a:solidFill>
              </a:rPr>
              <a:t>category</a:t>
            </a:r>
            <a:r>
              <a:rPr lang="en-US" altLang="en-US" sz="1100" dirty="0">
                <a:solidFill>
                  <a:schemeClr val="tx1"/>
                </a:solidFill>
              </a:rPr>
              <a:t> folder where </a:t>
            </a:r>
            <a:br>
              <a:rPr lang="en-US" altLang="en-US" sz="1100" dirty="0">
                <a:solidFill>
                  <a:schemeClr val="tx1"/>
                </a:solidFill>
              </a:rPr>
            </a:br>
            <a:r>
              <a:rPr lang="en-US" altLang="en-US" sz="1100" dirty="0">
                <a:solidFill>
                  <a:schemeClr val="tx1"/>
                </a:solidFill>
              </a:rPr>
              <a:t>the service appears.</a:t>
            </a:r>
          </a:p>
          <a:p>
            <a:pPr marL="182880" indent="-182880" eaLnBrk="1" hangingPunct="1">
              <a:lnSpc>
                <a:spcPct val="100000"/>
              </a:lnSpc>
              <a:buFont typeface="Calibri Light" panose="020F0302020204030204" pitchFamily="34" charset="0"/>
              <a:buAutoNum type="arabicPeriod"/>
            </a:pPr>
            <a:r>
              <a:rPr lang="en-US" altLang="en-US" sz="1100" b="1" dirty="0"/>
              <a:t>Insert the service icon.</a:t>
            </a:r>
            <a:br>
              <a:rPr lang="en-US" altLang="en-US" sz="1100" dirty="0"/>
            </a:br>
            <a:r>
              <a:rPr lang="en-US" altLang="en-US" sz="1100" dirty="0"/>
              <a:t>In the </a:t>
            </a:r>
            <a:r>
              <a:rPr lang="en-US" altLang="en-US" sz="1100" b="1" dirty="0"/>
              <a:t>Arch_32</a:t>
            </a:r>
            <a:r>
              <a:rPr lang="en-US" altLang="en-US" sz="1100" dirty="0"/>
              <a:t> folder, select the architecture service icon </a:t>
            </a:r>
            <a:r>
              <a:rPr lang="en-US" altLang="en-US" sz="1100" b="1" dirty="0"/>
              <a:t>SVG</a:t>
            </a:r>
            <a:r>
              <a:rPr lang="en-US" altLang="en-US" sz="1100" dirty="0"/>
              <a:t> file, then click </a:t>
            </a:r>
            <a:r>
              <a:rPr lang="en-US" altLang="en-US" sz="1100" b="1" dirty="0"/>
              <a:t>Insert</a:t>
            </a:r>
            <a:r>
              <a:rPr lang="en-US" altLang="en-US" sz="1100" dirty="0"/>
              <a:t>. </a:t>
            </a:r>
            <a:r>
              <a:rPr lang="en-US" altLang="en-US" sz="1100" b="1" dirty="0"/>
              <a:t>Do not</a:t>
            </a:r>
            <a:r>
              <a:rPr lang="en-US" altLang="en-US" sz="1100" dirty="0"/>
              <a:t> choose a PNG file, image quality will be degraded.</a:t>
            </a:r>
          </a:p>
        </p:txBody>
      </p:sp>
      <p:pic>
        <p:nvPicPr>
          <p:cNvPr id="69" name="Picture 68">
            <a:extLst>
              <a:ext uri="{FF2B5EF4-FFF2-40B4-BE49-F238E27FC236}">
                <a16:creationId xmlns:a16="http://schemas.microsoft.com/office/drawing/2014/main" id="{A069D96D-2BB5-429D-AD3A-A78626CEF642}"/>
              </a:ext>
            </a:extLst>
          </p:cNvPr>
          <p:cNvPicPr>
            <a:picLocks noChangeAspect="1"/>
          </p:cNvPicPr>
          <p:nvPr/>
        </p:nvPicPr>
        <p:blipFill>
          <a:blip r:embed="rId10"/>
          <a:stretch>
            <a:fillRect/>
          </a:stretch>
        </p:blipFill>
        <p:spPr>
          <a:xfrm>
            <a:off x="8372867" y="3227177"/>
            <a:ext cx="1392236" cy="737821"/>
          </a:xfrm>
          <a:prstGeom prst="rect">
            <a:avLst/>
          </a:prstGeom>
        </p:spPr>
      </p:pic>
      <p:pic>
        <p:nvPicPr>
          <p:cNvPr id="70" name="Picture 69">
            <a:extLst>
              <a:ext uri="{FF2B5EF4-FFF2-40B4-BE49-F238E27FC236}">
                <a16:creationId xmlns:a16="http://schemas.microsoft.com/office/drawing/2014/main" id="{85439BBB-8466-4456-8087-32768A203E97}"/>
              </a:ext>
            </a:extLst>
          </p:cNvPr>
          <p:cNvPicPr>
            <a:picLocks noChangeAspect="1"/>
          </p:cNvPicPr>
          <p:nvPr/>
        </p:nvPicPr>
        <p:blipFill>
          <a:blip r:embed="rId11"/>
          <a:stretch>
            <a:fillRect/>
          </a:stretch>
        </p:blipFill>
        <p:spPr>
          <a:xfrm>
            <a:off x="9012170" y="3204381"/>
            <a:ext cx="2622685" cy="821422"/>
          </a:xfrm>
          <a:prstGeom prst="rect">
            <a:avLst/>
          </a:prstGeom>
        </p:spPr>
      </p:pic>
    </p:spTree>
    <p:extLst>
      <p:ext uri="{BB962C8B-B14F-4D97-AF65-F5344CB8AC3E}">
        <p14:creationId xmlns:p14="http://schemas.microsoft.com/office/powerpoint/2010/main" val="2076658112"/>
      </p:ext>
    </p:extLst>
  </p:cSld>
  <p:clrMapOvr>
    <a:masterClrMapping/>
  </p:clrMapOvr>
</p:sld>
</file>

<file path=ppt/theme/theme1.xml><?xml version="1.0" encoding="utf-8"?>
<a:theme xmlns:a="http://schemas.openxmlformats.org/drawingml/2006/main" name="Office Theme">
  <a:themeElements>
    <a:clrScheme name="AWS-architecture-icons">
      <a:dk1>
        <a:srgbClr val="232F3C"/>
      </a:dk1>
      <a:lt1>
        <a:srgbClr val="FAFAFA"/>
      </a:lt1>
      <a:dk2>
        <a:srgbClr val="545B63"/>
      </a:dk2>
      <a:lt2>
        <a:srgbClr val="E5ECEF"/>
      </a:lt2>
      <a:accent1>
        <a:srgbClr val="FF9900"/>
      </a:accent1>
      <a:accent2>
        <a:srgbClr val="F0613C"/>
      </a:accent2>
      <a:accent3>
        <a:srgbClr val="007CBD"/>
      </a:accent3>
      <a:accent4>
        <a:srgbClr val="00A0C8"/>
      </a:accent4>
      <a:accent5>
        <a:srgbClr val="1D8900"/>
      </a:accent5>
      <a:accent6>
        <a:srgbClr val="69AE34"/>
      </a:accent6>
      <a:hlink>
        <a:srgbClr val="007CBC"/>
      </a:hlink>
      <a:folHlink>
        <a:srgbClr val="007CBC"/>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bwMode="auto">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a:spPr>
      <a:bodyPr wrap="square" lIns="0" tIns="0" rIns="0" bIns="0">
        <a:spAutoFit/>
      </a:bodyPr>
      <a:lstStyle>
        <a:defPPr algn="ctr" eaLnBrk="1" hangingPunct="1">
          <a:defRPr sz="1200" dirty="0">
            <a:latin typeface="Arial" panose="020B0604020202020204" pitchFamily="34" charset="0"/>
            <a:ea typeface="Amazon Ember" panose="020B0603020204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4030</TotalTime>
  <Words>1892</Words>
  <Application>Microsoft Office PowerPoint</Application>
  <PresentationFormat>Widescreen</PresentationFormat>
  <Paragraphs>213</Paragraphs>
  <Slides>10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Amazon Ember</vt:lpstr>
      <vt:lpstr>Arial</vt:lpstr>
      <vt:lpstr>Calibri</vt:lpstr>
      <vt:lpstr>Calibri Light</vt:lpstr>
      <vt:lpstr>Helvetica Neue</vt:lpstr>
      <vt:lpstr>Office Theme</vt:lpstr>
      <vt:lpstr>PowerPoint Presentation</vt:lpstr>
      <vt:lpstr>Guidance Examples and Additional Resources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Amazon.com</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Reference Architecture Template</dc:title>
  <dc:subject/>
  <dc:creator>Amazon Web Services</dc:creator>
  <cp:keywords/>
  <dc:description/>
  <cp:lastModifiedBy>Sadiya, Simran</cp:lastModifiedBy>
  <cp:revision>186</cp:revision>
  <dcterms:created xsi:type="dcterms:W3CDTF">2018-02-11T04:20:17Z</dcterms:created>
  <dcterms:modified xsi:type="dcterms:W3CDTF">2026-07-14T18:32:13Z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929eed6f-34eb-4453-9f97-09510b9b219f_Enabled">
    <vt:lpwstr>true</vt:lpwstr>
  </property>
  <property fmtid="{D5CDD505-2E9C-101B-9397-08002B2CF9AE}" pid="3" name="MSIP_Label_929eed6f-34eb-4453-9f97-09510b9b219f_SetDate">
    <vt:lpwstr>2025-06-24T17:28:58Z</vt:lpwstr>
  </property>
  <property fmtid="{D5CDD505-2E9C-101B-9397-08002B2CF9AE}" pid="4" name="MSIP_Label_929eed6f-34eb-4453-9f97-09510b9b219f_Method">
    <vt:lpwstr>Standard</vt:lpwstr>
  </property>
  <property fmtid="{D5CDD505-2E9C-101B-9397-08002B2CF9AE}" pid="5" name="MSIP_Label_929eed6f-34eb-4453-9f97-09510b9b219f_Name">
    <vt:lpwstr>Amazon Pending_Classification</vt:lpwstr>
  </property>
  <property fmtid="{D5CDD505-2E9C-101B-9397-08002B2CF9AE}" pid="6" name="MSIP_Label_929eed6f-34eb-4453-9f97-09510b9b219f_SiteId">
    <vt:lpwstr>5280104a-472d-4538-9ccf-1e1d0efe8b1b</vt:lpwstr>
  </property>
  <property fmtid="{D5CDD505-2E9C-101B-9397-08002B2CF9AE}" pid="7" name="MSIP_Label_929eed6f-34eb-4453-9f97-09510b9b219f_ActionId">
    <vt:lpwstr>69d6ba72-875c-44f8-b1ad-4cb99050055f</vt:lpwstr>
  </property>
  <property fmtid="{D5CDD505-2E9C-101B-9397-08002B2CF9AE}" pid="8" name="MSIP_Label_929eed6f-34eb-4453-9f97-09510b9b219f_ContentBits">
    <vt:lpwstr>0</vt:lpwstr>
  </property>
  <property fmtid="{D5CDD505-2E9C-101B-9397-08002B2CF9AE}" pid="9" name="MSIP_Label_929eed6f-34eb-4453-9f97-09510b9b219f_Tag">
    <vt:lpwstr>10, 3, 0, 1</vt:lpwstr>
  </property>
</Properties>
</file>